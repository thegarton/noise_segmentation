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8"/>
  </p:notesMasterIdLst>
  <p:sldIdLst>
    <p:sldId id="256" r:id="rId2"/>
    <p:sldId id="257" r:id="rId3"/>
    <p:sldId id="258" r:id="rId4"/>
    <p:sldId id="259" r:id="rId5"/>
    <p:sldId id="265" r:id="rId6"/>
    <p:sldId id="260" r:id="rId7"/>
    <p:sldId id="266" r:id="rId8"/>
    <p:sldId id="268" r:id="rId9"/>
    <p:sldId id="269" r:id="rId10"/>
    <p:sldId id="270" r:id="rId11"/>
    <p:sldId id="261" r:id="rId12"/>
    <p:sldId id="271" r:id="rId13"/>
    <p:sldId id="262" r:id="rId14"/>
    <p:sldId id="263" r:id="rId15"/>
    <p:sldId id="264" r:id="rId16"/>
    <p:sldId id="272" r:id="rId17"/>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2645" autoAdjust="0"/>
  </p:normalViewPr>
  <p:slideViewPr>
    <p:cSldViewPr snapToGrid="0">
      <p:cViewPr>
        <p:scale>
          <a:sx n="125" d="100"/>
          <a:sy n="125" d="100"/>
        </p:scale>
        <p:origin x="1194" y="6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3e1d71c10e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e1d71c10e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en-US" b="1" dirty="0"/>
              <a:t>Draft Pipeline Architecture</a:t>
            </a:r>
            <a:endParaRPr lang="ru-RU" b="1" dirty="0"/>
          </a:p>
          <a:p>
            <a:pPr marL="158750" indent="0">
              <a:buNone/>
            </a:pPr>
            <a:r>
              <a:rPr lang="en-US" dirty="0"/>
              <a:t>Since no labeled training dataset is available, the goal is to build a semi-automatic labeling pipeline with minimal manual correction.</a:t>
            </a:r>
          </a:p>
          <a:p>
            <a:pPr marL="158750" indent="0">
              <a:buNone/>
            </a:pPr>
            <a:r>
              <a:rPr lang="en-US" dirty="0"/>
              <a:t>During label generation, we use calibrated LiDAR and camera sequences. The final model must run on LiDAR only.</a:t>
            </a:r>
          </a:p>
          <a:p>
            <a:pPr marL="158750" indent="0">
              <a:buNone/>
            </a:pPr>
            <a:r>
              <a:rPr lang="en-US" dirty="0"/>
              <a:t>The main target is </a:t>
            </a:r>
            <a:r>
              <a:rPr lang="en-US" b="1" dirty="0"/>
              <a:t>noise segmentation</a:t>
            </a:r>
            <a:r>
              <a:rPr lang="en-US" dirty="0"/>
              <a:t>. To simplify it, we first remove explained physical objects from the point cloud:</a:t>
            </a:r>
          </a:p>
          <a:p>
            <a:pPr marL="158750" indent="0">
              <a:buNone/>
            </a:pPr>
            <a:r>
              <a:rPr lang="ru-RU" dirty="0"/>
              <a:t>	</a:t>
            </a:r>
            <a:r>
              <a:rPr lang="en-US" dirty="0"/>
              <a:t>fixed-size objects: cars, trucks/buses, pedestrians, cyclists, motorcycles; </a:t>
            </a:r>
          </a:p>
          <a:p>
            <a:pPr marL="158750" indent="0">
              <a:buNone/>
            </a:pPr>
            <a:r>
              <a:rPr lang="ru-RU" dirty="0"/>
              <a:t>	</a:t>
            </a:r>
            <a:r>
              <a:rPr lang="en-US" dirty="0"/>
              <a:t>variable-size objects: traffic signs, cones, roadblocks, tires, road studs, bars. </a:t>
            </a:r>
          </a:p>
          <a:p>
            <a:pPr marL="158750" indent="0">
              <a:buNone/>
            </a:pPr>
            <a:r>
              <a:rPr lang="en-US" dirty="0"/>
              <a:t>Noise segmentation is then applied to the residual point cloud, reducing confusion between real objects and LiDAR artifacts.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e1d71c10ef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3e1d71c10ef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For VRU segmentation, we use a baseline CenterPoint model with a </a:t>
            </a:r>
            <a:r>
              <a:rPr lang="en-US" dirty="0" err="1"/>
              <a:t>PointPillar</a:t>
            </a:r>
            <a:r>
              <a:rPr lang="en-US" dirty="0"/>
              <a:t> encoder trained on the </a:t>
            </a:r>
            <a:r>
              <a:rPr lang="en-US" dirty="0" err="1"/>
              <a:t>nuScenes</a:t>
            </a:r>
            <a:r>
              <a:rPr lang="en-US" dirty="0"/>
              <a:t> dataset.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1. VFE / Pillar Feature Encoder:</a:t>
            </a:r>
          </a:p>
          <a:p>
            <a:pPr marL="0" lvl="0" indent="0" algn="l" rtl="0">
              <a:spcBef>
                <a:spcPts val="0"/>
              </a:spcBef>
              <a:spcAft>
                <a:spcPts val="0"/>
              </a:spcAft>
              <a:buNone/>
            </a:pPr>
            <a:r>
              <a:rPr lang="en-US" dirty="0"/>
              <a:t>   Converts raw LiDAR points into pillar-wise features. For each point, the encoder augments the input with geometric offsets, such as the offset from the mean point inside the pillar and the offset from the pillar center.</a:t>
            </a:r>
          </a:p>
          <a:p>
            <a:pPr marL="0" lvl="0" indent="0" algn="l" rtl="0">
              <a:spcBef>
                <a:spcPts val="0"/>
              </a:spcBef>
              <a:spcAft>
                <a:spcPts val="0"/>
              </a:spcAft>
              <a:buNone/>
            </a:pPr>
            <a:r>
              <a:rPr lang="en-US" dirty="0"/>
              <a:t>2. Pillar Scatter:</a:t>
            </a:r>
          </a:p>
          <a:p>
            <a:pPr marL="0" lvl="0" indent="0" algn="l" rtl="0">
              <a:spcBef>
                <a:spcPts val="0"/>
              </a:spcBef>
              <a:spcAft>
                <a:spcPts val="0"/>
              </a:spcAft>
              <a:buNone/>
            </a:pPr>
            <a:r>
              <a:rPr lang="en-US" dirty="0"/>
              <a:t>   Projects sparse pillar features onto a dense BEV feature map.</a:t>
            </a:r>
            <a:r>
              <a:rPr lang="ru-RU" dirty="0"/>
              <a:t> </a:t>
            </a:r>
            <a:endParaRPr lang="en-US" dirty="0"/>
          </a:p>
          <a:p>
            <a:pPr marL="0" lvl="0" indent="0" algn="l" rtl="0">
              <a:spcBef>
                <a:spcPts val="0"/>
              </a:spcBef>
              <a:spcAft>
                <a:spcPts val="0"/>
              </a:spcAft>
              <a:buNone/>
            </a:pPr>
            <a:r>
              <a:rPr lang="en-US" dirty="0"/>
              <a:t>3. 2D BEV Backbone:</a:t>
            </a:r>
          </a:p>
          <a:p>
            <a:pPr marL="0" lvl="0" indent="0" algn="l" rtl="0">
              <a:spcBef>
                <a:spcPts val="0"/>
              </a:spcBef>
              <a:spcAft>
                <a:spcPts val="0"/>
              </a:spcAft>
              <a:buNone/>
            </a:pPr>
            <a:r>
              <a:rPr lang="en-US" dirty="0"/>
              <a:t>   Processes the BEV feature map with convolutional blocks to extract multi-scale spatial features and increase the receptive field.</a:t>
            </a:r>
          </a:p>
          <a:p>
            <a:pPr marL="0" lvl="0" indent="0" algn="l" rtl="0">
              <a:spcBef>
                <a:spcPts val="0"/>
              </a:spcBef>
              <a:spcAft>
                <a:spcPts val="0"/>
              </a:spcAft>
              <a:buNone/>
            </a:pPr>
            <a:r>
              <a:rPr lang="en-US" dirty="0"/>
              <a:t>4. Dense Head / </a:t>
            </a:r>
            <a:r>
              <a:rPr lang="en-US" dirty="0" err="1"/>
              <a:t>CenterHead</a:t>
            </a:r>
            <a:r>
              <a:rPr lang="en-US" dirty="0"/>
              <a:t>:</a:t>
            </a:r>
          </a:p>
          <a:p>
            <a:pPr marL="0" lvl="0" indent="0" algn="l" rtl="0">
              <a:spcBef>
                <a:spcPts val="0"/>
              </a:spcBef>
              <a:spcAft>
                <a:spcPts val="0"/>
              </a:spcAft>
              <a:buNone/>
            </a:pPr>
            <a:r>
              <a:rPr lang="en-US" dirty="0"/>
              <a:t>   Predicts object-center heatmaps and regression maps for box parameters: center offset, height, size, rotation, and velocity.</a:t>
            </a:r>
          </a:p>
          <a:p>
            <a:pPr marL="0" lvl="0" indent="0" algn="l" rtl="0">
              <a:spcBef>
                <a:spcPts val="0"/>
              </a:spcBef>
              <a:spcAft>
                <a:spcPts val="0"/>
              </a:spcAft>
              <a:buNone/>
            </a:pPr>
            <a:r>
              <a:rPr lang="en-US" dirty="0"/>
              <a:t>5. Post-processing:</a:t>
            </a:r>
          </a:p>
          <a:p>
            <a:pPr marL="0" lvl="0" indent="0" algn="l" rtl="0">
              <a:spcBef>
                <a:spcPts val="0"/>
              </a:spcBef>
              <a:spcAft>
                <a:spcPts val="0"/>
              </a:spcAft>
              <a:buNone/>
            </a:pPr>
            <a:r>
              <a:rPr lang="en-US" dirty="0"/>
              <a:t>   Decodes the predicted centers and regression outputs into final 3D detections, followed by score thresholding and NMS(</a:t>
            </a:r>
            <a:r>
              <a:rPr lang="en-US" b="1" dirty="0"/>
              <a:t>Non-Maximum Suppression – preprocessing that remove box </a:t>
            </a:r>
            <a:r>
              <a:rPr lang="en-US" b="1" dirty="0" err="1"/>
              <a:t>dupl</a:t>
            </a:r>
            <a:r>
              <a:rPr lang="en-US" dirty="0"/>
              <a:t>).</a:t>
            </a: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3e1db76208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 name="Google Shape;72;g3e1db76208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a:extLst>
            <a:ext uri="{FF2B5EF4-FFF2-40B4-BE49-F238E27FC236}">
              <a16:creationId xmlns:a16="http://schemas.microsoft.com/office/drawing/2014/main" id="{924FFAF7-0DA3-F3A8-3D01-B638BC4D663B}"/>
            </a:ext>
          </a:extLst>
        </p:cNvPr>
        <p:cNvGrpSpPr/>
        <p:nvPr/>
      </p:nvGrpSpPr>
      <p:grpSpPr>
        <a:xfrm>
          <a:off x="0" y="0"/>
          <a:ext cx="0" cy="0"/>
          <a:chOff x="0" y="0"/>
          <a:chExt cx="0" cy="0"/>
        </a:xfrm>
      </p:grpSpPr>
      <p:sp>
        <p:nvSpPr>
          <p:cNvPr id="71" name="Google Shape;71;g3e1db76208f_0_0:notes">
            <a:extLst>
              <a:ext uri="{FF2B5EF4-FFF2-40B4-BE49-F238E27FC236}">
                <a16:creationId xmlns:a16="http://schemas.microsoft.com/office/drawing/2014/main" id="{0C2B8813-A5BC-B3AF-9BE7-4BFA43ED57E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 name="Google Shape;72;g3e1db76208f_0_0:notes">
            <a:extLst>
              <a:ext uri="{FF2B5EF4-FFF2-40B4-BE49-F238E27FC236}">
                <a16:creationId xmlns:a16="http://schemas.microsoft.com/office/drawing/2014/main" id="{441BCFBF-3BA8-62E8-48AA-92DB8E05DD3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349746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3e1db76208f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 name="Google Shape;78;g3e1db76208f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This slide shows the first planned improvement for fixed-size object detection.</a:t>
            </a:r>
          </a:p>
          <a:p>
            <a:pPr marL="0" lvl="0" indent="0" algn="l" rtl="0">
              <a:spcBef>
                <a:spcPts val="0"/>
              </a:spcBef>
              <a:spcAft>
                <a:spcPts val="0"/>
              </a:spcAft>
              <a:buNone/>
            </a:pPr>
            <a:r>
              <a:rPr lang="en-US" dirty="0"/>
              <a:t>Our current baseline uses frame-level LiDAR detectors such as CenterPoint or </a:t>
            </a:r>
            <a:r>
              <a:rPr lang="en-US" dirty="0" err="1"/>
              <a:t>PointPillars</a:t>
            </a:r>
            <a:r>
              <a:rPr lang="en-US" dirty="0"/>
              <a:t>. These models can miss objects in difficult frames, especially VRUs with few points or partial occlusion.</a:t>
            </a:r>
          </a:p>
          <a:p>
            <a:pPr marL="0" lvl="0" indent="0" algn="l" rtl="0">
              <a:spcBef>
                <a:spcPts val="0"/>
              </a:spcBef>
              <a:spcAft>
                <a:spcPts val="0"/>
              </a:spcAft>
              <a:buNone/>
            </a:pPr>
            <a:r>
              <a:rPr lang="en-US" dirty="0"/>
              <a:t>To improve this, we plan to investigate a CTRL-like offline detector. It uses the full temporal sequence: initial detections are linked into tracks, and bidirectional temporal context helps recover missed boxes and refine detections.</a:t>
            </a:r>
          </a:p>
          <a:p>
            <a:pPr marL="0" lvl="0" indent="0" algn="l" rtl="0">
              <a:spcBef>
                <a:spcPts val="0"/>
              </a:spcBef>
              <a:spcAft>
                <a:spcPts val="0"/>
              </a:spcAft>
              <a:buNone/>
            </a:pPr>
            <a:r>
              <a:rPr lang="en-US" dirty="0"/>
              <a:t>This should improve VRU recall and produce cleaner residual point clouds for downstream noise segmentation.</a:t>
            </a: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381000" y="685800"/>
            <a:ext cx="6096000" cy="3429000"/>
          </a:xfrm>
        </p:spPr>
      </p:sp>
      <p:sp>
        <p:nvSpPr>
          <p:cNvPr id="3" name="Заметки 2"/>
          <p:cNvSpPr>
            <a:spLocks noGrp="1"/>
          </p:cNvSpPr>
          <p:nvPr>
            <p:ph type="body" idx="1"/>
          </p:nvPr>
        </p:nvSpPr>
        <p:spPr/>
        <p:txBody>
          <a:bodyPr/>
          <a:lstStyle/>
          <a:p>
            <a:pPr marL="158750" indent="0">
              <a:buNone/>
            </a:pPr>
            <a:r>
              <a:rPr lang="en-US" dirty="0"/>
              <a:t>This slide shows the overall CTRL architecture.</a:t>
            </a:r>
          </a:p>
          <a:p>
            <a:pPr marL="158750" indent="0">
              <a:buNone/>
            </a:pPr>
            <a:endParaRPr lang="en-US" dirty="0"/>
          </a:p>
          <a:p>
            <a:pPr marL="158750" indent="0">
              <a:buNone/>
            </a:pPr>
            <a:r>
              <a:rPr lang="en-US" dirty="0"/>
              <a:t>CTRL first uses a base 3D detector to generate initial detections. These detections are then linked into object tracks. The important part is bidirectional tracking: the method extends tracks both forward and backward in time, so an object detected in one frame can be recovered in neighboring frames.</a:t>
            </a:r>
          </a:p>
          <a:p>
            <a:pPr marL="158750" indent="0">
              <a:buNone/>
            </a:pPr>
            <a:endParaRPr lang="en-US" dirty="0"/>
          </a:p>
          <a:p>
            <a:pPr marL="158750" indent="0">
              <a:buNone/>
            </a:pPr>
            <a:r>
              <a:rPr lang="en-US" dirty="0"/>
              <a:t>After that, CTRL applies track-centric refinement. Instead of refining boxes frame by frame, it uses the full object track as temporal context. This helps recover missed detections and makes the final boxes more stable across the sequence.</a:t>
            </a:r>
            <a:endParaRPr lang="ru-RU" dirty="0"/>
          </a:p>
        </p:txBody>
      </p:sp>
    </p:spTree>
    <p:extLst>
      <p:ext uri="{BB962C8B-B14F-4D97-AF65-F5344CB8AC3E}">
        <p14:creationId xmlns:p14="http://schemas.microsoft.com/office/powerpoint/2010/main" val="8685889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3F08D4-66E1-7118-16E7-4FF5608BEEA0}"/>
            </a:ext>
          </a:extLst>
        </p:cNvPr>
        <p:cNvGrpSpPr/>
        <p:nvPr/>
      </p:nvGrpSpPr>
      <p:grpSpPr>
        <a:xfrm>
          <a:off x="0" y="0"/>
          <a:ext cx="0" cy="0"/>
          <a:chOff x="0" y="0"/>
          <a:chExt cx="0" cy="0"/>
        </a:xfrm>
      </p:grpSpPr>
      <p:sp>
        <p:nvSpPr>
          <p:cNvPr id="2" name="Образ слайда 1">
            <a:extLst>
              <a:ext uri="{FF2B5EF4-FFF2-40B4-BE49-F238E27FC236}">
                <a16:creationId xmlns:a16="http://schemas.microsoft.com/office/drawing/2014/main" id="{4E4CA569-B4F8-8466-D128-8178A8E40BA6}"/>
              </a:ext>
            </a:extLst>
          </p:cNvPr>
          <p:cNvSpPr>
            <a:spLocks noGrp="1" noRot="1" noChangeAspect="1"/>
          </p:cNvSpPr>
          <p:nvPr>
            <p:ph type="sldImg"/>
          </p:nvPr>
        </p:nvSpPr>
        <p:spPr>
          <a:xfrm>
            <a:off x="381000" y="685800"/>
            <a:ext cx="6096000" cy="3429000"/>
          </a:xfrm>
        </p:spPr>
      </p:sp>
      <p:sp>
        <p:nvSpPr>
          <p:cNvPr id="3" name="Заметки 2">
            <a:extLst>
              <a:ext uri="{FF2B5EF4-FFF2-40B4-BE49-F238E27FC236}">
                <a16:creationId xmlns:a16="http://schemas.microsoft.com/office/drawing/2014/main" id="{7228A8C7-B94F-7442-49D4-E5E9B45EFDA0}"/>
              </a:ext>
            </a:extLst>
          </p:cNvPr>
          <p:cNvSpPr>
            <a:spLocks noGrp="1"/>
          </p:cNvSpPr>
          <p:nvPr>
            <p:ph type="body" idx="1"/>
          </p:nvPr>
        </p:nvSpPr>
        <p:spPr/>
        <p:txBody>
          <a:bodyPr/>
          <a:lstStyle/>
          <a:p>
            <a:pPr marL="158750" indent="0">
              <a:buNone/>
            </a:pPr>
            <a:r>
              <a:rPr lang="en-US" dirty="0"/>
              <a:t>This slide introduces the motivation behind VADet.</a:t>
            </a:r>
          </a:p>
          <a:p>
            <a:pPr marL="158750" indent="0">
              <a:buNone/>
            </a:pPr>
            <a:endParaRPr lang="en-US" dirty="0"/>
          </a:p>
          <a:p>
            <a:pPr marL="158750" indent="0">
              <a:buNone/>
            </a:pPr>
            <a:r>
              <a:rPr lang="en-US" dirty="0"/>
              <a:t>Most multi-frame LiDAR detectors aggregate a fixed number of past frames for the whole scene. However, this is not always optimal. A distant or sparse object may need more frames to collect enough points, while a fast-moving object can become blurred if too many frames are aggregated.</a:t>
            </a:r>
          </a:p>
          <a:p>
            <a:pPr marL="158750" indent="0">
              <a:buNone/>
            </a:pPr>
            <a:endParaRPr lang="en-US" dirty="0"/>
          </a:p>
          <a:p>
            <a:pPr marL="158750" indent="0">
              <a:buNone/>
            </a:pPr>
            <a:r>
              <a:rPr lang="en-US" dirty="0"/>
              <a:t>VADet addresses this by choosing the aggregation window adaptively for each object, instead of using the same number of frames everywhere.</a:t>
            </a:r>
            <a:endParaRPr lang="ru-RU" dirty="0"/>
          </a:p>
        </p:txBody>
      </p:sp>
    </p:spTree>
    <p:extLst>
      <p:ext uri="{BB962C8B-B14F-4D97-AF65-F5344CB8AC3E}">
        <p14:creationId xmlns:p14="http://schemas.microsoft.com/office/powerpoint/2010/main" val="16475470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381000" y="685800"/>
            <a:ext cx="6096000" cy="3429000"/>
          </a:xfrm>
        </p:spPr>
      </p:sp>
      <p:sp>
        <p:nvSpPr>
          <p:cNvPr id="3" name="Заметки 2"/>
          <p:cNvSpPr>
            <a:spLocks noGrp="1"/>
          </p:cNvSpPr>
          <p:nvPr>
            <p:ph type="body" idx="1"/>
          </p:nvPr>
        </p:nvSpPr>
        <p:spPr/>
        <p:txBody>
          <a:bodyPr/>
          <a:lstStyle/>
          <a:p>
            <a:pPr marL="158750" indent="0">
              <a:buNone/>
            </a:pPr>
            <a:r>
              <a:rPr lang="en-US" dirty="0"/>
              <a:t>This slide shows the VADet framework.</a:t>
            </a:r>
            <a:endParaRPr lang="ru-RU" dirty="0"/>
          </a:p>
          <a:p>
            <a:pPr marL="158750" indent="0">
              <a:buNone/>
            </a:pPr>
            <a:endParaRPr lang="en-US" dirty="0"/>
          </a:p>
          <a:p>
            <a:pPr marL="158750" indent="0">
              <a:buNone/>
            </a:pPr>
            <a:r>
              <a:rPr lang="en-US" dirty="0"/>
              <a:t>The key idea is to move from scene-level fixed aggregation to object-level adaptive aggregation. VADet estimates object-specific properties, such as speed and point density, and then selects how many frames should be used for that object.</a:t>
            </a:r>
            <a:endParaRPr lang="ru-RU" dirty="0"/>
          </a:p>
          <a:p>
            <a:pPr marL="158750" indent="0">
              <a:buNone/>
            </a:pPr>
            <a:endParaRPr lang="en-US" dirty="0"/>
          </a:p>
          <a:p>
            <a:pPr marL="158750" indent="0">
              <a:buNone/>
            </a:pPr>
            <a:r>
              <a:rPr lang="en-US" dirty="0"/>
              <a:t>This makes the detector more flexible: it can use more temporal context when the object is sparse, and avoid excessive aggregation when the object is fast or already well observed.</a:t>
            </a:r>
            <a:endParaRPr lang="ru-RU" dirty="0"/>
          </a:p>
        </p:txBody>
      </p:sp>
    </p:spTree>
    <p:extLst>
      <p:ext uri="{BB962C8B-B14F-4D97-AF65-F5344CB8AC3E}">
        <p14:creationId xmlns:p14="http://schemas.microsoft.com/office/powerpoint/2010/main" val="35797195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3e1db76208f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3e1db76208f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n-US" dirty="0"/>
              <a:t>For variable-size objects, we want to avoid fully manual annotation.</a:t>
            </a:r>
          </a:p>
          <a:p>
            <a:pPr marL="457200" lvl="0" indent="-342900" algn="l" rtl="0">
              <a:spcBef>
                <a:spcPts val="0"/>
              </a:spcBef>
              <a:spcAft>
                <a:spcPts val="0"/>
              </a:spcAft>
              <a:buSzPts val="1800"/>
              <a:buChar char="-"/>
            </a:pPr>
            <a:endParaRPr lang="en-US" dirty="0"/>
          </a:p>
          <a:p>
            <a:pPr marL="457200" lvl="0" indent="-342900" algn="l" rtl="0">
              <a:spcBef>
                <a:spcPts val="0"/>
              </a:spcBef>
              <a:spcAft>
                <a:spcPts val="0"/>
              </a:spcAft>
              <a:buSzPts val="1800"/>
              <a:buChar char="-"/>
            </a:pPr>
            <a:r>
              <a:rPr lang="en-US" dirty="0"/>
              <a:t>The idea is to use camera and LiDAR together only during dataset creation. SAM3 or SAM4D-like models can segment objects in the image, and then we transfer these masks into the LiDAR point cloud using calibration.</a:t>
            </a:r>
          </a:p>
          <a:p>
            <a:pPr marL="457200" lvl="0" indent="-342900" algn="l" rtl="0">
              <a:spcBef>
                <a:spcPts val="0"/>
              </a:spcBef>
              <a:spcAft>
                <a:spcPts val="0"/>
              </a:spcAft>
              <a:buSzPts val="1800"/>
              <a:buChar char="-"/>
            </a:pPr>
            <a:endParaRPr lang="en-US" dirty="0"/>
          </a:p>
          <a:p>
            <a:pPr marL="457200" lvl="0" indent="-342900" algn="l" rtl="0">
              <a:spcBef>
                <a:spcPts val="0"/>
              </a:spcBef>
              <a:spcAft>
                <a:spcPts val="0"/>
              </a:spcAft>
              <a:buSzPts val="1800"/>
              <a:buChar char="-"/>
            </a:pPr>
            <a:r>
              <a:rPr lang="en-US" dirty="0"/>
              <a:t>After that, we extract object point clusters, fit variable-size 3D boxes, and manually correct only low-confidence cases. The final trained model will still be LiDAR-only.</a:t>
            </a:r>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3e1db76208f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3e1db76208f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a:p>
            <a:pPr marL="0" lvl="0" indent="0" algn="l" rtl="0">
              <a:spcBef>
                <a:spcPts val="0"/>
              </a:spcBef>
              <a:spcAft>
                <a:spcPts val="0"/>
              </a:spcAft>
              <a:buNone/>
            </a:pPr>
            <a:r>
              <a:rPr lang="en-US" dirty="0"/>
              <a:t>The quality of pseudo-labels strongly depends on Camera–LiDAR calibration.</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If the calibration is slightly wrong, image masks will be transferred to incorrect LiDAR points, and this will create noisy training labels.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So before generating labels, we need to validate extrinsic calibration, camera intrinsics, and time synchronization. Targetless calibration can be used as a first step, but if the projection quality is not good enough, manual or target-based refinement may be required.</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Provide some frame from </a:t>
            </a:r>
            <a:r>
              <a:rPr lang="en-US" dirty="0" err="1"/>
              <a:t>SuperGlue</a:t>
            </a:r>
            <a:r>
              <a:rPr lang="en-US" dirty="0"/>
              <a:t> in </a:t>
            </a:r>
            <a:r>
              <a:rPr lang="en-US" dirty="0" err="1"/>
              <a:t>blanding</a:t>
            </a:r>
            <a:r>
              <a:rPr lang="en-US" dirty="0"/>
              <a:t> mode.</a:t>
            </a:r>
          </a:p>
          <a:p>
            <a:pPr marL="0" lvl="0" indent="0" algn="l" rtl="0">
              <a:spcBef>
                <a:spcPts val="1200"/>
              </a:spcBef>
              <a:spcAft>
                <a:spcPts val="0"/>
              </a:spcAft>
              <a:buNone/>
            </a:pPr>
            <a:r>
              <a:rPr lang="en-US" dirty="0"/>
              <a:t>– problems</a:t>
            </a:r>
          </a:p>
          <a:p>
            <a:pPr marL="457200" lvl="0" indent="-342900" algn="l" rtl="0">
              <a:spcBef>
                <a:spcPts val="1200"/>
              </a:spcBef>
              <a:spcAft>
                <a:spcPts val="0"/>
              </a:spcAft>
              <a:buSzPts val="1800"/>
              <a:buChar char="-"/>
            </a:pPr>
            <a:r>
              <a:rPr lang="en-US" dirty="0"/>
              <a:t>maybe need camera recalibrate ( create new intrinsic ) </a:t>
            </a:r>
          </a:p>
          <a:p>
            <a:pPr marL="457200" lvl="0" indent="-342900" algn="l" rtl="0">
              <a:spcBef>
                <a:spcPts val="0"/>
              </a:spcBef>
              <a:spcAft>
                <a:spcPts val="0"/>
              </a:spcAft>
              <a:buSzPts val="1800"/>
              <a:buChar char="-"/>
            </a:pPr>
            <a:r>
              <a:rPr lang="en-US" dirty="0"/>
              <a:t>If it’s available maybe need manual with data extrinsic calibrate </a:t>
            </a:r>
          </a:p>
          <a:p>
            <a:pPr marL="457200" lvl="0" indent="-342900" algn="l" rtl="0">
              <a:spcBef>
                <a:spcPts val="0"/>
              </a:spcBef>
              <a:spcAft>
                <a:spcPts val="0"/>
              </a:spcAft>
              <a:buSzPts val="1800"/>
              <a:buChar char="-"/>
            </a:pPr>
            <a:r>
              <a:rPr lang="en-US" dirty="0"/>
              <a:t>maybe problem with time </a:t>
            </a:r>
            <a:r>
              <a:rPr lang="en-US" dirty="0" err="1"/>
              <a:t>sinc</a:t>
            </a:r>
            <a:r>
              <a:rPr lang="en-US" dirty="0"/>
              <a:t> not with calibration, but in another dataset for example Waymo-4DSeg not a problem with </a:t>
            </a:r>
            <a:r>
              <a:rPr lang="en-US" dirty="0" err="1"/>
              <a:t>calibaration</a:t>
            </a:r>
            <a:r>
              <a:rPr lang="en-US" dirty="0"/>
              <a:t> L+C </a:t>
            </a:r>
            <a:r>
              <a:rPr lang="en-US" dirty="0" err="1"/>
              <a:t>somehowe</a:t>
            </a:r>
            <a:r>
              <a:rPr lang="en-US" dirty="0"/>
              <a:t> they overcome this </a:t>
            </a:r>
          </a:p>
          <a:p>
            <a:pPr marL="0" lvl="0" indent="0" algn="l" rtl="0">
              <a:spcBef>
                <a:spcPts val="0"/>
              </a:spcBef>
              <a:spcAft>
                <a:spcPts val="0"/>
              </a:spcAft>
              <a:buNone/>
            </a:pPr>
            <a:endParaRP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3e1db76208f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3e1db76208f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After pseudo-label generation and manual correction, we use the resulting dataset to train a LiDAR-only model.</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For these classes, a standard fixed-size detector may not be optimal, because objects like cones, signs, bars, road studs, and tires have different sizes and sparse LiDAR returns.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 better option may be a segmentation-based pipeline: first detect object points, then cluster them into instances, and finally fit adaptive 3D boxes. This model will later remove real small objects before the noise segmentation stage.</a:t>
            </a:r>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3e1db76208f_0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3e1db76208f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For noise segmentation, we first work with the residual point cloud. This means that fixed-size objects and variable-size physical objects are already removed.</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The remaining points are not automatically noise, but they are much easier to analyze. We then extract noise candidates using simple cues such as local density, range-image structure, temporal instability, distance to objects, and intensity.</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Instead of directly predicting all 14 noise classes, we first segment points into broader noise families. This should make the problem more stable and reduce confusion between similar noise types.</a:t>
            </a:r>
            <a:endParaRPr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a:xfrm>
            <a:off x="381000" y="685800"/>
            <a:ext cx="6096000" cy="3429000"/>
          </a:xfrm>
        </p:spPr>
      </p:sp>
      <p:sp>
        <p:nvSpPr>
          <p:cNvPr id="3" name="Заметки 2"/>
          <p:cNvSpPr>
            <a:spLocks noGrp="1"/>
          </p:cNvSpPr>
          <p:nvPr>
            <p:ph type="body" idx="1"/>
          </p:nvPr>
        </p:nvSpPr>
        <p:spPr/>
        <p:txBody>
          <a:bodyPr/>
          <a:lstStyle/>
          <a:p>
            <a:r>
              <a:rPr lang="en-US" dirty="0"/>
              <a:t>At this stage, we do not yet know whether direct 14-class noise segmentation will work well. However, because some noise classes are visually similar and we have limited labeled data, we propose to start with a hierarchical approach.</a:t>
            </a:r>
          </a:p>
          <a:p>
            <a:endParaRPr lang="en-US" dirty="0"/>
          </a:p>
          <a:p>
            <a:r>
              <a:rPr lang="en-US" dirty="0"/>
              <a:t>First, the model predicts coarse noise families. Then, points inside each family are clustered, and each cluster is classified into one of the final noise classes.</a:t>
            </a:r>
          </a:p>
          <a:p>
            <a:endParaRPr lang="en-US" dirty="0"/>
          </a:p>
          <a:p>
            <a:r>
              <a:rPr lang="en-US" dirty="0"/>
              <a:t>This gives us a more controllable baseline and allows manual correction of uncertain clusters.</a:t>
            </a:r>
            <a:endParaRPr lang="ru-RU" dirty="0"/>
          </a:p>
        </p:txBody>
      </p:sp>
    </p:spTree>
    <p:extLst>
      <p:ext uri="{BB962C8B-B14F-4D97-AF65-F5344CB8AC3E}">
        <p14:creationId xmlns:p14="http://schemas.microsoft.com/office/powerpoint/2010/main" val="40621711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ru"/>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ru"/>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ru"/>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ru"/>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ru"/>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ru"/>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ru"/>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ru"/>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ru"/>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ru"/>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55" name="Google Shape;55;p13"/>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372212" y="2818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ru" dirty="0"/>
              <a:t>Draft of architecture </a:t>
            </a:r>
            <a:endParaRPr dirty="0"/>
          </a:p>
        </p:txBody>
      </p:sp>
      <p:pic>
        <p:nvPicPr>
          <p:cNvPr id="62" name="Google Shape;62;p14" title="ChatGPT Image 13 мая 2026 г., 22_28_55.png"/>
          <p:cNvPicPr preferRelativeResize="0"/>
          <p:nvPr/>
        </p:nvPicPr>
        <p:blipFill>
          <a:blip r:embed="rId3">
            <a:alphaModFix/>
          </a:blip>
          <a:stretch>
            <a:fillRect/>
          </a:stretch>
        </p:blipFill>
        <p:spPr>
          <a:xfrm>
            <a:off x="1114256" y="969630"/>
            <a:ext cx="6915487" cy="389202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5"/>
          <p:cNvSpPr txBox="1">
            <a:spLocks noGrp="1"/>
          </p:cNvSpPr>
          <p:nvPr>
            <p:ph type="title"/>
          </p:nvPr>
        </p:nvSpPr>
        <p:spPr>
          <a:xfrm>
            <a:off x="311700" y="311682"/>
            <a:ext cx="8520600" cy="572700"/>
          </a:xfrm>
          <a:prstGeom prst="rect">
            <a:avLst/>
          </a:prstGeom>
        </p:spPr>
        <p:txBody>
          <a:bodyPr spcFirstLastPara="1" wrap="square" lIns="91425" tIns="91425" rIns="91425" bIns="91425" anchor="t" anchorCtr="0">
            <a:normAutofit fontScale="90000"/>
          </a:bodyPr>
          <a:lstStyle/>
          <a:p>
            <a:pPr lvl="0"/>
            <a:r>
              <a:rPr lang="en-US" dirty="0"/>
              <a:t>VRU Detection with Fixed-Size Boxes</a:t>
            </a:r>
            <a:endParaRPr dirty="0"/>
          </a:p>
        </p:txBody>
      </p:sp>
      <p:pic>
        <p:nvPicPr>
          <p:cNvPr id="68" name="Google Shape;68;p15" title="ChatGPT Image 14 мая 2026 г., 22_17_40.png"/>
          <p:cNvPicPr preferRelativeResize="0"/>
          <p:nvPr/>
        </p:nvPicPr>
        <p:blipFill>
          <a:blip r:embed="rId3">
            <a:alphaModFix/>
          </a:blip>
          <a:stretch>
            <a:fillRect/>
          </a:stretch>
        </p:blipFill>
        <p:spPr>
          <a:xfrm>
            <a:off x="859875" y="1150270"/>
            <a:ext cx="7424250" cy="3004324"/>
          </a:xfrm>
          <a:prstGeom prst="rect">
            <a:avLst/>
          </a:prstGeom>
          <a:noFill/>
          <a:ln>
            <a:noFill/>
          </a:ln>
        </p:spPr>
      </p:pic>
      <p:sp>
        <p:nvSpPr>
          <p:cNvPr id="69" name="Google Shape;69;p15"/>
          <p:cNvSpPr txBox="1"/>
          <p:nvPr/>
        </p:nvSpPr>
        <p:spPr>
          <a:xfrm>
            <a:off x="461850" y="4420482"/>
            <a:ext cx="8220300" cy="534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ru" sz="1100" dirty="0">
                <a:solidFill>
                  <a:schemeClr val="bg2">
                    <a:lumMod val="60000"/>
                    <a:lumOff val="40000"/>
                  </a:schemeClr>
                </a:solidFill>
              </a:rPr>
              <a:t>Figure adapted from : Lang et al., </a:t>
            </a:r>
            <a:r>
              <a:rPr lang="ru" sz="1100" i="1" dirty="0">
                <a:solidFill>
                  <a:schemeClr val="bg2">
                    <a:lumMod val="60000"/>
                    <a:lumOff val="40000"/>
                  </a:schemeClr>
                </a:solidFill>
              </a:rPr>
              <a:t>PointPillars: Fast Encoders for Object Detection from Point Clouds</a:t>
            </a:r>
            <a:r>
              <a:rPr lang="ru" sz="1100" dirty="0">
                <a:solidFill>
                  <a:schemeClr val="bg2">
                    <a:lumMod val="60000"/>
                    <a:lumOff val="40000"/>
                  </a:schemeClr>
                </a:solidFill>
              </a:rPr>
              <a:t>, arXiv:1812.05784, 2018. DOI: 10.48550/arXiv.1812.05784. </a:t>
            </a:r>
            <a:endParaRPr sz="1800" dirty="0">
              <a:solidFill>
                <a:schemeClr val="bg2">
                  <a:lumMod val="60000"/>
                  <a:lumOff val="40000"/>
                </a:schemeClr>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ru" dirty="0"/>
              <a:t>Results on our data</a:t>
            </a:r>
            <a:endParaRPr dirty="0"/>
          </a:p>
        </p:txBody>
      </p:sp>
      <p:sp>
        <p:nvSpPr>
          <p:cNvPr id="75" name="Google Shape;75;p16"/>
          <p:cNvSpPr txBox="1">
            <a:spLocks noGrp="1"/>
          </p:cNvSpPr>
          <p:nvPr>
            <p:ph type="body" idx="1"/>
          </p:nvPr>
        </p:nvSpPr>
        <p:spPr>
          <a:xfrm>
            <a:off x="311700" y="1282075"/>
            <a:ext cx="8520600" cy="3416400"/>
          </a:xfrm>
          <a:prstGeom prst="rect">
            <a:avLst/>
          </a:prstGeom>
        </p:spPr>
        <p:txBody>
          <a:bodyPr spcFirstLastPara="1" wrap="square" lIns="91425" tIns="91425" rIns="91425" bIns="91425" anchor="t" anchorCtr="0">
            <a:normAutofit/>
          </a:bodyPr>
          <a:lstStyle/>
          <a:p>
            <a:pPr marL="0" lvl="0" indent="0" algn="ctr" rtl="0">
              <a:spcBef>
                <a:spcPts val="0"/>
              </a:spcBef>
              <a:spcAft>
                <a:spcPts val="1200"/>
              </a:spcAft>
              <a:buNone/>
            </a:pPr>
            <a:r>
              <a:rPr lang="en-US" sz="6600" dirty="0">
                <a:solidFill>
                  <a:srgbClr val="FF0000"/>
                </a:solidFill>
              </a:rPr>
              <a:t>FIG</a:t>
            </a:r>
            <a:endParaRPr sz="6600" dirty="0">
              <a:solidFill>
                <a:srgbClr val="FF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3">
          <a:extLst>
            <a:ext uri="{FF2B5EF4-FFF2-40B4-BE49-F238E27FC236}">
              <a16:creationId xmlns:a16="http://schemas.microsoft.com/office/drawing/2014/main" id="{70FF4D20-508E-6A0D-A75D-A932139A6CDC}"/>
            </a:ext>
          </a:extLst>
        </p:cNvPr>
        <p:cNvGrpSpPr/>
        <p:nvPr/>
      </p:nvGrpSpPr>
      <p:grpSpPr>
        <a:xfrm>
          <a:off x="0" y="0"/>
          <a:ext cx="0" cy="0"/>
          <a:chOff x="0" y="0"/>
          <a:chExt cx="0" cy="0"/>
        </a:xfrm>
      </p:grpSpPr>
      <p:sp>
        <p:nvSpPr>
          <p:cNvPr id="74" name="Google Shape;74;p16">
            <a:extLst>
              <a:ext uri="{FF2B5EF4-FFF2-40B4-BE49-F238E27FC236}">
                <a16:creationId xmlns:a16="http://schemas.microsoft.com/office/drawing/2014/main" id="{BDD4E3A7-29DA-0511-8F76-C2531126ED68}"/>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ru" dirty="0"/>
              <a:t>Results on our data</a:t>
            </a:r>
            <a:endParaRPr dirty="0"/>
          </a:p>
        </p:txBody>
      </p:sp>
      <p:sp>
        <p:nvSpPr>
          <p:cNvPr id="2" name="Google Shape;75;p16">
            <a:extLst>
              <a:ext uri="{FF2B5EF4-FFF2-40B4-BE49-F238E27FC236}">
                <a16:creationId xmlns:a16="http://schemas.microsoft.com/office/drawing/2014/main" id="{D379F264-7BD4-96B8-4538-BED7FE84E6CF}"/>
              </a:ext>
            </a:extLst>
          </p:cNvPr>
          <p:cNvSpPr txBox="1">
            <a:spLocks/>
          </p:cNvSpPr>
          <p:nvPr/>
        </p:nvSpPr>
        <p:spPr>
          <a:xfrm>
            <a:off x="464100" y="1434475"/>
            <a:ext cx="8520600" cy="34164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0" indent="0" algn="ctr">
              <a:spcAft>
                <a:spcPts val="1200"/>
              </a:spcAft>
              <a:buFont typeface="Arial"/>
              <a:buNone/>
            </a:pPr>
            <a:r>
              <a:rPr lang="en-US" sz="6600" dirty="0">
                <a:solidFill>
                  <a:srgbClr val="FF0000"/>
                </a:solidFill>
              </a:rPr>
              <a:t>FIG</a:t>
            </a:r>
          </a:p>
        </p:txBody>
      </p:sp>
    </p:spTree>
    <p:extLst>
      <p:ext uri="{BB962C8B-B14F-4D97-AF65-F5344CB8AC3E}">
        <p14:creationId xmlns:p14="http://schemas.microsoft.com/office/powerpoint/2010/main" val="37882652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lvl="0"/>
            <a:r>
              <a:rPr lang="en-US" dirty="0"/>
              <a:t>Planned Improvement: Offline LiDAR 3D Detection</a:t>
            </a:r>
            <a:endParaRPr dirty="0"/>
          </a:p>
        </p:txBody>
      </p:sp>
      <p:pic>
        <p:nvPicPr>
          <p:cNvPr id="3" name="Рисунок 2">
            <a:extLst>
              <a:ext uri="{FF2B5EF4-FFF2-40B4-BE49-F238E27FC236}">
                <a16:creationId xmlns:a16="http://schemas.microsoft.com/office/drawing/2014/main" id="{ABD823D6-A22A-03AE-16E5-2DD2C8D78E20}"/>
              </a:ext>
            </a:extLst>
          </p:cNvPr>
          <p:cNvPicPr>
            <a:picLocks noChangeAspect="1"/>
          </p:cNvPicPr>
          <p:nvPr/>
        </p:nvPicPr>
        <p:blipFill>
          <a:blip r:embed="rId3"/>
          <a:stretch>
            <a:fillRect/>
          </a:stretch>
        </p:blipFill>
        <p:spPr>
          <a:xfrm>
            <a:off x="5333768" y="1142089"/>
            <a:ext cx="3498532" cy="3042202"/>
          </a:xfrm>
          <a:prstGeom prst="rect">
            <a:avLst/>
          </a:prstGeom>
        </p:spPr>
      </p:pic>
      <p:sp>
        <p:nvSpPr>
          <p:cNvPr id="4" name="Google Shape;69;p15">
            <a:extLst>
              <a:ext uri="{FF2B5EF4-FFF2-40B4-BE49-F238E27FC236}">
                <a16:creationId xmlns:a16="http://schemas.microsoft.com/office/drawing/2014/main" id="{DD0CAB18-E2D5-CEE9-2C3C-22DD90EDEBCB}"/>
              </a:ext>
            </a:extLst>
          </p:cNvPr>
          <p:cNvSpPr txBox="1"/>
          <p:nvPr/>
        </p:nvSpPr>
        <p:spPr>
          <a:xfrm>
            <a:off x="461850" y="4420482"/>
            <a:ext cx="8220300" cy="534900"/>
          </a:xfrm>
          <a:prstGeom prst="rect">
            <a:avLst/>
          </a:prstGeom>
          <a:noFill/>
          <a:ln>
            <a:noFill/>
          </a:ln>
        </p:spPr>
        <p:txBody>
          <a:bodyPr spcFirstLastPara="1" wrap="square" lIns="91425" tIns="91425" rIns="91425" bIns="91425" anchor="t" anchorCtr="0">
            <a:noAutofit/>
          </a:bodyPr>
          <a:lstStyle/>
          <a:p>
            <a:pPr lvl="0"/>
            <a:r>
              <a:rPr lang="en-US" sz="1100" dirty="0">
                <a:solidFill>
                  <a:schemeClr val="bg2">
                    <a:lumMod val="60000"/>
                    <a:lumOff val="40000"/>
                  </a:schemeClr>
                </a:solidFill>
              </a:rPr>
              <a:t>Figure adapted from: Fan et al., </a:t>
            </a:r>
            <a:r>
              <a:rPr lang="en-US" sz="1100" i="1" dirty="0">
                <a:solidFill>
                  <a:schemeClr val="bg2">
                    <a:lumMod val="60000"/>
                    <a:lumOff val="40000"/>
                  </a:schemeClr>
                </a:solidFill>
              </a:rPr>
              <a:t>Once Detected, Never Lost: Surpassing Human Performance in Offline LiDAR based 3D Object Detection</a:t>
            </a:r>
            <a:r>
              <a:rPr lang="en-US" sz="1100" dirty="0">
                <a:solidFill>
                  <a:schemeClr val="bg2">
                    <a:lumMod val="60000"/>
                    <a:lumOff val="40000"/>
                  </a:schemeClr>
                </a:solidFill>
              </a:rPr>
              <a:t>, arXiv:2304.12315, 2023. DOI: 10.48550/arXiv.2304.12315.</a:t>
            </a:r>
            <a:r>
              <a:rPr lang="ru" sz="1100" dirty="0">
                <a:solidFill>
                  <a:schemeClr val="bg2">
                    <a:lumMod val="60000"/>
                    <a:lumOff val="40000"/>
                  </a:schemeClr>
                </a:solidFill>
              </a:rPr>
              <a:t> </a:t>
            </a:r>
            <a:endParaRPr sz="1800" dirty="0">
              <a:solidFill>
                <a:schemeClr val="bg2">
                  <a:lumMod val="60000"/>
                  <a:lumOff val="40000"/>
                </a:schemeClr>
              </a:solidFill>
            </a:endParaRPr>
          </a:p>
        </p:txBody>
      </p:sp>
      <p:sp>
        <p:nvSpPr>
          <p:cNvPr id="5" name="TextBox 4">
            <a:extLst>
              <a:ext uri="{FF2B5EF4-FFF2-40B4-BE49-F238E27FC236}">
                <a16:creationId xmlns:a16="http://schemas.microsoft.com/office/drawing/2014/main" id="{20C2A3E4-74DE-E023-1198-34F2B31E95D2}"/>
              </a:ext>
            </a:extLst>
          </p:cNvPr>
          <p:cNvSpPr txBox="1"/>
          <p:nvPr/>
        </p:nvSpPr>
        <p:spPr>
          <a:xfrm>
            <a:off x="461850" y="1396904"/>
            <a:ext cx="4483530" cy="2246769"/>
          </a:xfrm>
          <a:prstGeom prst="rect">
            <a:avLst/>
          </a:prstGeom>
          <a:noFill/>
        </p:spPr>
        <p:txBody>
          <a:bodyPr wrap="square" rtlCol="0">
            <a:spAutoFit/>
          </a:bodyPr>
          <a:lstStyle/>
          <a:p>
            <a:r>
              <a:rPr lang="en-US" dirty="0"/>
              <a:t>Frame-level detectors may miss objects in sparse or occluded frames.</a:t>
            </a:r>
          </a:p>
          <a:p>
            <a:endParaRPr lang="en-US" dirty="0"/>
          </a:p>
          <a:p>
            <a:r>
              <a:rPr lang="en-US" dirty="0"/>
              <a:t>CTRL proposes an offline, track-centric detection strategy: once an object is confidently detected, temporal context is used to recover missed boxes and refine detections across the sequence.</a:t>
            </a:r>
          </a:p>
          <a:p>
            <a:endParaRPr lang="en-US" dirty="0"/>
          </a:p>
          <a:p>
            <a:r>
              <a:rPr lang="en-US" dirty="0"/>
              <a:t>This can improve VRU recall and produce more stable object boxes before downstream noise segmentation.</a:t>
            </a:r>
            <a:endParaRPr lang="ru-RU"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BE5794B-0219-AC9E-0C94-8E734BFF3000}"/>
              </a:ext>
            </a:extLst>
          </p:cNvPr>
          <p:cNvSpPr>
            <a:spLocks noGrp="1"/>
          </p:cNvSpPr>
          <p:nvPr>
            <p:ph type="title"/>
          </p:nvPr>
        </p:nvSpPr>
        <p:spPr/>
        <p:txBody>
          <a:bodyPr>
            <a:normAutofit fontScale="90000"/>
          </a:bodyPr>
          <a:lstStyle/>
          <a:p>
            <a:r>
              <a:rPr lang="en-US" dirty="0"/>
              <a:t>CTRL-like Offline Detector: Once Detected, Never Lost</a:t>
            </a:r>
            <a:endParaRPr lang="ru-RU" dirty="0"/>
          </a:p>
        </p:txBody>
      </p:sp>
      <p:pic>
        <p:nvPicPr>
          <p:cNvPr id="9" name="Рисунок 8">
            <a:extLst>
              <a:ext uri="{FF2B5EF4-FFF2-40B4-BE49-F238E27FC236}">
                <a16:creationId xmlns:a16="http://schemas.microsoft.com/office/drawing/2014/main" id="{ED2E21A8-A9BE-B853-0793-438C95C2E5C2}"/>
              </a:ext>
            </a:extLst>
          </p:cNvPr>
          <p:cNvPicPr>
            <a:picLocks noChangeAspect="1"/>
          </p:cNvPicPr>
          <p:nvPr/>
        </p:nvPicPr>
        <p:blipFill>
          <a:blip r:embed="rId3"/>
          <a:srcRect b="23786"/>
          <a:stretch>
            <a:fillRect/>
          </a:stretch>
        </p:blipFill>
        <p:spPr>
          <a:xfrm>
            <a:off x="1059180" y="1017725"/>
            <a:ext cx="7025640" cy="2692545"/>
          </a:xfrm>
          <a:prstGeom prst="rect">
            <a:avLst/>
          </a:prstGeom>
        </p:spPr>
      </p:pic>
      <p:sp>
        <p:nvSpPr>
          <p:cNvPr id="10" name="Google Shape;69;p15">
            <a:extLst>
              <a:ext uri="{FF2B5EF4-FFF2-40B4-BE49-F238E27FC236}">
                <a16:creationId xmlns:a16="http://schemas.microsoft.com/office/drawing/2014/main" id="{4A8FADC8-9E88-1DE6-52CE-DBBF1D011116}"/>
              </a:ext>
            </a:extLst>
          </p:cNvPr>
          <p:cNvSpPr txBox="1"/>
          <p:nvPr/>
        </p:nvSpPr>
        <p:spPr>
          <a:xfrm>
            <a:off x="461850" y="4420482"/>
            <a:ext cx="8220300" cy="534900"/>
          </a:xfrm>
          <a:prstGeom prst="rect">
            <a:avLst/>
          </a:prstGeom>
          <a:noFill/>
          <a:ln>
            <a:noFill/>
          </a:ln>
        </p:spPr>
        <p:txBody>
          <a:bodyPr spcFirstLastPara="1" wrap="square" lIns="91425" tIns="91425" rIns="91425" bIns="91425" anchor="t" anchorCtr="0">
            <a:noAutofit/>
          </a:bodyPr>
          <a:lstStyle/>
          <a:p>
            <a:pPr lvl="0"/>
            <a:r>
              <a:rPr lang="en-US" sz="1100" dirty="0">
                <a:solidFill>
                  <a:schemeClr val="bg2">
                    <a:lumMod val="60000"/>
                    <a:lumOff val="40000"/>
                  </a:schemeClr>
                </a:solidFill>
              </a:rPr>
              <a:t>Figure adapted from: Fan et al., </a:t>
            </a:r>
            <a:r>
              <a:rPr lang="en-US" sz="1100" i="1" dirty="0">
                <a:solidFill>
                  <a:schemeClr val="bg2">
                    <a:lumMod val="60000"/>
                    <a:lumOff val="40000"/>
                  </a:schemeClr>
                </a:solidFill>
              </a:rPr>
              <a:t>Once Detected, Never Lost: Surpassing Human Performance in Offline LiDAR based 3D Object Detection</a:t>
            </a:r>
            <a:r>
              <a:rPr lang="en-US" sz="1100" dirty="0">
                <a:solidFill>
                  <a:schemeClr val="bg2">
                    <a:lumMod val="60000"/>
                    <a:lumOff val="40000"/>
                  </a:schemeClr>
                </a:solidFill>
              </a:rPr>
              <a:t>, arXiv:2304.12315, 2023. DOI: 10.48550/arXiv.2304.12315.</a:t>
            </a:r>
            <a:r>
              <a:rPr lang="ru" sz="1100" dirty="0">
                <a:solidFill>
                  <a:schemeClr val="bg2">
                    <a:lumMod val="60000"/>
                    <a:lumOff val="40000"/>
                  </a:schemeClr>
                </a:solidFill>
              </a:rPr>
              <a:t> </a:t>
            </a:r>
            <a:endParaRPr sz="1800" dirty="0">
              <a:solidFill>
                <a:schemeClr val="bg2">
                  <a:lumMod val="60000"/>
                  <a:lumOff val="40000"/>
                </a:schemeClr>
              </a:solidFill>
            </a:endParaRPr>
          </a:p>
        </p:txBody>
      </p:sp>
      <p:sp>
        <p:nvSpPr>
          <p:cNvPr id="13" name="TextBox 12">
            <a:extLst>
              <a:ext uri="{FF2B5EF4-FFF2-40B4-BE49-F238E27FC236}">
                <a16:creationId xmlns:a16="http://schemas.microsoft.com/office/drawing/2014/main" id="{B311F87F-0F3A-39EE-F0F1-8AE804C10D5B}"/>
              </a:ext>
            </a:extLst>
          </p:cNvPr>
          <p:cNvSpPr txBox="1"/>
          <p:nvPr/>
        </p:nvSpPr>
        <p:spPr>
          <a:xfrm>
            <a:off x="758190" y="3803766"/>
            <a:ext cx="7627620" cy="523220"/>
          </a:xfrm>
          <a:prstGeom prst="rect">
            <a:avLst/>
          </a:prstGeom>
          <a:noFill/>
        </p:spPr>
        <p:txBody>
          <a:bodyPr wrap="square" rtlCol="0">
            <a:spAutoFit/>
          </a:bodyPr>
          <a:lstStyle/>
          <a:p>
            <a:r>
              <a:rPr lang="en-US" dirty="0"/>
              <a:t>CTRL uses a base detector to generate initial boxes, links them into tracks with bidirectional tracking, and refines them using track-centric learning.</a:t>
            </a:r>
            <a:endParaRPr lang="ru-RU" dirty="0"/>
          </a:p>
        </p:txBody>
      </p:sp>
    </p:spTree>
    <p:extLst>
      <p:ext uri="{BB962C8B-B14F-4D97-AF65-F5344CB8AC3E}">
        <p14:creationId xmlns:p14="http://schemas.microsoft.com/office/powerpoint/2010/main" val="25412755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6C8BFB-891E-0DEC-8644-781085DEDFAC}"/>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DE90686C-E832-C155-D823-9D8C64219179}"/>
              </a:ext>
            </a:extLst>
          </p:cNvPr>
          <p:cNvSpPr>
            <a:spLocks noGrp="1"/>
          </p:cNvSpPr>
          <p:nvPr>
            <p:ph type="title"/>
          </p:nvPr>
        </p:nvSpPr>
        <p:spPr/>
        <p:txBody>
          <a:bodyPr>
            <a:normAutofit fontScale="90000"/>
          </a:bodyPr>
          <a:lstStyle/>
          <a:p>
            <a:r>
              <a:rPr lang="en-US" dirty="0"/>
              <a:t>Planned Improvement: Variable Temporal Aggregation</a:t>
            </a:r>
            <a:endParaRPr lang="ru-RU" dirty="0"/>
          </a:p>
        </p:txBody>
      </p:sp>
      <p:sp>
        <p:nvSpPr>
          <p:cNvPr id="10" name="Google Shape;69;p15">
            <a:extLst>
              <a:ext uri="{FF2B5EF4-FFF2-40B4-BE49-F238E27FC236}">
                <a16:creationId xmlns:a16="http://schemas.microsoft.com/office/drawing/2014/main" id="{207F0E5A-A341-AD66-61A5-486C5822C5CD}"/>
              </a:ext>
            </a:extLst>
          </p:cNvPr>
          <p:cNvSpPr txBox="1"/>
          <p:nvPr/>
        </p:nvSpPr>
        <p:spPr>
          <a:xfrm>
            <a:off x="461850" y="4420482"/>
            <a:ext cx="8220300" cy="5349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a:defRPr sz="1100">
                <a:solidFill>
                  <a:schemeClr val="bg2">
                    <a:lumMod val="60000"/>
                    <a:lumOff val="40000"/>
                  </a:schemeClr>
                </a:solidFill>
              </a:defRPr>
            </a:lvl1pPr>
          </a:lstStyle>
          <a:p>
            <a:r>
              <a:rPr lang="en-US" dirty="0"/>
              <a:t>Figure adapted from: Huang et al., VADet: Multi-frame LiDAR 3D Object Detection using Variable Aggregation, arXiv:2411.13186, 2024. DOI: 10.48550/arXiv.</a:t>
            </a:r>
            <a:r>
              <a:rPr lang="en-US"/>
              <a:t>2411.13186.</a:t>
            </a:r>
            <a:endParaRPr lang="en-US" dirty="0"/>
          </a:p>
        </p:txBody>
      </p:sp>
      <p:pic>
        <p:nvPicPr>
          <p:cNvPr id="3" name="Рисунок 2">
            <a:extLst>
              <a:ext uri="{FF2B5EF4-FFF2-40B4-BE49-F238E27FC236}">
                <a16:creationId xmlns:a16="http://schemas.microsoft.com/office/drawing/2014/main" id="{FF13DBB2-A756-F56C-E697-C82CEB94CFC9}"/>
              </a:ext>
            </a:extLst>
          </p:cNvPr>
          <p:cNvPicPr>
            <a:picLocks noChangeAspect="1"/>
          </p:cNvPicPr>
          <p:nvPr/>
        </p:nvPicPr>
        <p:blipFill>
          <a:blip r:embed="rId3"/>
          <a:srcRect l="237" t="4969" r="-237" b="19791"/>
          <a:stretch>
            <a:fillRect/>
          </a:stretch>
        </p:blipFill>
        <p:spPr>
          <a:xfrm>
            <a:off x="5363782" y="1017725"/>
            <a:ext cx="2903918" cy="2627907"/>
          </a:xfrm>
          <a:prstGeom prst="rect">
            <a:avLst/>
          </a:prstGeom>
        </p:spPr>
      </p:pic>
      <p:sp>
        <p:nvSpPr>
          <p:cNvPr id="8" name="TextBox 7">
            <a:extLst>
              <a:ext uri="{FF2B5EF4-FFF2-40B4-BE49-F238E27FC236}">
                <a16:creationId xmlns:a16="http://schemas.microsoft.com/office/drawing/2014/main" id="{CE57EDE6-5EE7-1593-8462-D53283D395C7}"/>
              </a:ext>
            </a:extLst>
          </p:cNvPr>
          <p:cNvSpPr txBox="1"/>
          <p:nvPr/>
        </p:nvSpPr>
        <p:spPr>
          <a:xfrm>
            <a:off x="5473700" y="3645632"/>
            <a:ext cx="2611120" cy="738664"/>
          </a:xfrm>
          <a:prstGeom prst="rect">
            <a:avLst/>
          </a:prstGeom>
          <a:noFill/>
        </p:spPr>
        <p:txBody>
          <a:bodyPr wrap="square" rtlCol="0">
            <a:spAutoFit/>
          </a:bodyPr>
          <a:lstStyle/>
          <a:p>
            <a:r>
              <a:rPr lang="en-US" sz="1050" dirty="0"/>
              <a:t>Fixed aggregation has different effects for stationary, slow, and fast objects.</a:t>
            </a:r>
            <a:br>
              <a:rPr lang="en-US" sz="1050" dirty="0"/>
            </a:br>
            <a:r>
              <a:rPr lang="en-US" sz="1050" dirty="0"/>
              <a:t>VADet selects the temporal window adaptively.</a:t>
            </a:r>
            <a:endParaRPr lang="ru-RU" sz="1050" dirty="0"/>
          </a:p>
        </p:txBody>
      </p:sp>
      <p:sp>
        <p:nvSpPr>
          <p:cNvPr id="11" name="TextBox 10">
            <a:extLst>
              <a:ext uri="{FF2B5EF4-FFF2-40B4-BE49-F238E27FC236}">
                <a16:creationId xmlns:a16="http://schemas.microsoft.com/office/drawing/2014/main" id="{4C1E4674-9133-2460-5766-F1A3704F1AAB}"/>
              </a:ext>
            </a:extLst>
          </p:cNvPr>
          <p:cNvSpPr txBox="1"/>
          <p:nvPr/>
        </p:nvSpPr>
        <p:spPr>
          <a:xfrm>
            <a:off x="461850" y="1053911"/>
            <a:ext cx="4828970" cy="2462213"/>
          </a:xfrm>
          <a:prstGeom prst="rect">
            <a:avLst/>
          </a:prstGeom>
          <a:noFill/>
        </p:spPr>
        <p:txBody>
          <a:bodyPr wrap="square" rtlCol="0">
            <a:spAutoFit/>
          </a:bodyPr>
          <a:lstStyle/>
          <a:p>
            <a:r>
              <a:rPr lang="en-US" dirty="0"/>
              <a:t>Standard multi-frame LiDAR detectors use the same temporal window for all objects</a:t>
            </a:r>
          </a:p>
          <a:p>
            <a:endParaRPr lang="en-US" dirty="0"/>
          </a:p>
          <a:p>
            <a:r>
              <a:rPr lang="en-US" dirty="0"/>
              <a:t>However, different objects require different amounts of temporal context:</a:t>
            </a:r>
          </a:p>
          <a:p>
            <a:r>
              <a:rPr lang="en-US" dirty="0"/>
              <a:t>• sparse / distant objects may benefit from more frames</a:t>
            </a:r>
          </a:p>
          <a:p>
            <a:r>
              <a:rPr lang="en-US" dirty="0"/>
              <a:t>• fast-moving objects may be degraded by excessive aggregation</a:t>
            </a:r>
          </a:p>
          <a:p>
            <a:endParaRPr lang="en-US" dirty="0"/>
          </a:p>
          <a:p>
            <a:r>
              <a:rPr lang="en-US" dirty="0"/>
              <a:t>VADet proposes object-level variable aggregation instead of fixed scene-level aggregation.</a:t>
            </a:r>
            <a:endParaRPr lang="ru-RU" dirty="0"/>
          </a:p>
        </p:txBody>
      </p:sp>
    </p:spTree>
    <p:extLst>
      <p:ext uri="{BB962C8B-B14F-4D97-AF65-F5344CB8AC3E}">
        <p14:creationId xmlns:p14="http://schemas.microsoft.com/office/powerpoint/2010/main" val="32670328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3AAFD55-DD43-7A55-6941-8DE609EA1FE1}"/>
              </a:ext>
            </a:extLst>
          </p:cNvPr>
          <p:cNvSpPr>
            <a:spLocks noGrp="1"/>
          </p:cNvSpPr>
          <p:nvPr>
            <p:ph type="title"/>
          </p:nvPr>
        </p:nvSpPr>
        <p:spPr/>
        <p:txBody>
          <a:bodyPr>
            <a:normAutofit fontScale="90000"/>
          </a:bodyPr>
          <a:lstStyle/>
          <a:p>
            <a:r>
              <a:rPr lang="en-US" dirty="0"/>
              <a:t>VADet: Object-Level Adaptive Aggregation</a:t>
            </a:r>
            <a:endParaRPr lang="ru-RU" dirty="0"/>
          </a:p>
        </p:txBody>
      </p:sp>
      <p:sp>
        <p:nvSpPr>
          <p:cNvPr id="3" name="Текст 2">
            <a:extLst>
              <a:ext uri="{FF2B5EF4-FFF2-40B4-BE49-F238E27FC236}">
                <a16:creationId xmlns:a16="http://schemas.microsoft.com/office/drawing/2014/main" id="{520300D8-15FF-795A-12E0-9CC91ECFD9D6}"/>
              </a:ext>
            </a:extLst>
          </p:cNvPr>
          <p:cNvSpPr>
            <a:spLocks noGrp="1"/>
          </p:cNvSpPr>
          <p:nvPr>
            <p:ph type="body" idx="1"/>
          </p:nvPr>
        </p:nvSpPr>
        <p:spPr>
          <a:xfrm>
            <a:off x="311700" y="1152475"/>
            <a:ext cx="3706260" cy="3268007"/>
          </a:xfrm>
        </p:spPr>
        <p:txBody>
          <a:bodyPr>
            <a:normAutofit fontScale="92500" lnSpcReduction="20000"/>
          </a:bodyPr>
          <a:lstStyle/>
          <a:p>
            <a:pPr marL="114300" indent="0">
              <a:buNone/>
            </a:pPr>
            <a:r>
              <a:rPr lang="en-US" dirty="0"/>
              <a:t>VADet performs aggregation at the object level.</a:t>
            </a:r>
            <a:br>
              <a:rPr lang="en-US" dirty="0"/>
            </a:br>
            <a:br>
              <a:rPr lang="en-US" dirty="0"/>
            </a:br>
            <a:r>
              <a:rPr lang="en-US" dirty="0"/>
              <a:t>Instead of aggregating the full scene with a fixed number of frames, it estimates object properties and selects a suitable temporal window for each object.</a:t>
            </a:r>
            <a:br>
              <a:rPr lang="en-US" dirty="0"/>
            </a:br>
            <a:br>
              <a:rPr lang="en-US" dirty="0"/>
            </a:br>
            <a:r>
              <a:rPr lang="en-US" dirty="0"/>
              <a:t>The aggregated object-level features are then passed to the 3D detector.</a:t>
            </a:r>
            <a:endParaRPr lang="ru-RU" dirty="0"/>
          </a:p>
        </p:txBody>
      </p:sp>
      <p:pic>
        <p:nvPicPr>
          <p:cNvPr id="5" name="Рисунок 4">
            <a:extLst>
              <a:ext uri="{FF2B5EF4-FFF2-40B4-BE49-F238E27FC236}">
                <a16:creationId xmlns:a16="http://schemas.microsoft.com/office/drawing/2014/main" id="{A70094CE-D244-87B1-F75D-08549E40807E}"/>
              </a:ext>
            </a:extLst>
          </p:cNvPr>
          <p:cNvPicPr>
            <a:picLocks noChangeAspect="1"/>
          </p:cNvPicPr>
          <p:nvPr/>
        </p:nvPicPr>
        <p:blipFill>
          <a:blip r:embed="rId3"/>
          <a:srcRect b="29410"/>
          <a:stretch>
            <a:fillRect/>
          </a:stretch>
        </p:blipFill>
        <p:spPr>
          <a:xfrm>
            <a:off x="4017960" y="1017725"/>
            <a:ext cx="5126040" cy="2479855"/>
          </a:xfrm>
          <a:prstGeom prst="rect">
            <a:avLst/>
          </a:prstGeom>
        </p:spPr>
      </p:pic>
      <p:sp>
        <p:nvSpPr>
          <p:cNvPr id="6" name="Google Shape;69;p15">
            <a:extLst>
              <a:ext uri="{FF2B5EF4-FFF2-40B4-BE49-F238E27FC236}">
                <a16:creationId xmlns:a16="http://schemas.microsoft.com/office/drawing/2014/main" id="{5A548AB4-B80E-B6BA-54FA-62FFB165D7CF}"/>
              </a:ext>
            </a:extLst>
          </p:cNvPr>
          <p:cNvSpPr txBox="1"/>
          <p:nvPr/>
        </p:nvSpPr>
        <p:spPr>
          <a:xfrm>
            <a:off x="461850" y="4420482"/>
            <a:ext cx="8220300" cy="534900"/>
          </a:xfrm>
          <a:prstGeom prst="rect">
            <a:avLst/>
          </a:prstGeom>
          <a:noFill/>
          <a:ln>
            <a:noFill/>
          </a:ln>
        </p:spPr>
        <p:txBody>
          <a:bodyPr spcFirstLastPara="1" wrap="square" lIns="91425" tIns="91425" rIns="91425" bIns="91425" anchor="t" anchorCtr="0">
            <a:noAutofit/>
          </a:bodyPr>
          <a:lstStyle/>
          <a:p>
            <a:pPr lvl="0"/>
            <a:r>
              <a:rPr lang="en-US" sz="1100" dirty="0">
                <a:solidFill>
                  <a:schemeClr val="bg2">
                    <a:lumMod val="60000"/>
                    <a:lumOff val="40000"/>
                  </a:schemeClr>
                </a:solidFill>
              </a:rPr>
              <a:t>Figure adapted from: Huang et al., VADet: Multi-frame LiDAR 3D Object Detection using Variable Aggregation, arXiv:2411.13186, 2024. DOI: 10.48550/arXiv.2411.13186.</a:t>
            </a:r>
            <a:endParaRPr lang="en-US" sz="1800" dirty="0">
              <a:solidFill>
                <a:schemeClr val="bg2">
                  <a:lumMod val="60000"/>
                  <a:lumOff val="40000"/>
                </a:schemeClr>
              </a:solidFill>
            </a:endParaRPr>
          </a:p>
        </p:txBody>
      </p:sp>
      <p:sp>
        <p:nvSpPr>
          <p:cNvPr id="9" name="TextBox 8">
            <a:extLst>
              <a:ext uri="{FF2B5EF4-FFF2-40B4-BE49-F238E27FC236}">
                <a16:creationId xmlns:a16="http://schemas.microsoft.com/office/drawing/2014/main" id="{F32497CC-803D-FEEC-311F-E814C775C005}"/>
              </a:ext>
            </a:extLst>
          </p:cNvPr>
          <p:cNvSpPr txBox="1"/>
          <p:nvPr/>
        </p:nvSpPr>
        <p:spPr>
          <a:xfrm>
            <a:off x="4190279" y="3406140"/>
            <a:ext cx="4671060" cy="738664"/>
          </a:xfrm>
          <a:prstGeom prst="rect">
            <a:avLst/>
          </a:prstGeom>
          <a:noFill/>
        </p:spPr>
        <p:txBody>
          <a:bodyPr wrap="square" rtlCol="0">
            <a:spAutoFit/>
          </a:bodyPr>
          <a:lstStyle/>
          <a:p>
            <a:r>
              <a:rPr lang="en-US" dirty="0"/>
              <a:t>Qualitative results comparing 3-frame and 16-frame fixed aggregation with VADet. Red and green bounding boxes are ground truth and predictions, respectively</a:t>
            </a:r>
            <a:endParaRPr lang="ru-RU" dirty="0"/>
          </a:p>
        </p:txBody>
      </p:sp>
    </p:spTree>
    <p:extLst>
      <p:ext uri="{BB962C8B-B14F-4D97-AF65-F5344CB8AC3E}">
        <p14:creationId xmlns:p14="http://schemas.microsoft.com/office/powerpoint/2010/main" val="24278220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210619C-1D26-A5EF-5088-C2378BA7BA45}"/>
              </a:ext>
            </a:extLst>
          </p:cNvPr>
          <p:cNvSpPr>
            <a:spLocks noGrp="1"/>
          </p:cNvSpPr>
          <p:nvPr>
            <p:ph type="title"/>
          </p:nvPr>
        </p:nvSpPr>
        <p:spPr/>
        <p:txBody>
          <a:bodyPr>
            <a:normAutofit fontScale="90000"/>
          </a:bodyPr>
          <a:lstStyle/>
          <a:p>
            <a:r>
              <a:rPr lang="en-US" dirty="0"/>
              <a:t>Proposed Integration: VADet-style Aggregation before CTRL-like Refinement</a:t>
            </a:r>
            <a:endParaRPr lang="ru-RU" dirty="0"/>
          </a:p>
        </p:txBody>
      </p:sp>
      <p:sp>
        <p:nvSpPr>
          <p:cNvPr id="3" name="Текст 2">
            <a:extLst>
              <a:ext uri="{FF2B5EF4-FFF2-40B4-BE49-F238E27FC236}">
                <a16:creationId xmlns:a16="http://schemas.microsoft.com/office/drawing/2014/main" id="{DAECC38A-52D2-2E25-ECA4-A921932D8DC4}"/>
              </a:ext>
            </a:extLst>
          </p:cNvPr>
          <p:cNvSpPr>
            <a:spLocks noGrp="1"/>
          </p:cNvSpPr>
          <p:nvPr>
            <p:ph type="body" idx="1"/>
          </p:nvPr>
        </p:nvSpPr>
        <p:spPr>
          <a:xfrm>
            <a:off x="311700" y="1403935"/>
            <a:ext cx="8520600" cy="3416400"/>
          </a:xfrm>
        </p:spPr>
        <p:txBody>
          <a:bodyPr>
            <a:normAutofit/>
          </a:bodyPr>
          <a:lstStyle/>
          <a:p>
            <a:pPr marL="114300" indent="0">
              <a:buNone/>
            </a:pPr>
            <a:r>
              <a:rPr lang="en-US" dirty="0"/>
              <a:t>VADet and CTRL-like detection are complementary.</a:t>
            </a:r>
          </a:p>
          <a:p>
            <a:pPr marL="114300" indent="0">
              <a:buNone/>
            </a:pPr>
            <a:r>
              <a:rPr lang="en-US" dirty="0"/>
              <a:t>VADet can improve initial detections by selecting an adaptive temporal window per object.</a:t>
            </a:r>
          </a:p>
          <a:p>
            <a:pPr marL="114300" indent="0">
              <a:buNone/>
            </a:pPr>
            <a:r>
              <a:rPr lang="en-US" dirty="0"/>
              <a:t>CTRL-like offline refinement can then link detections into tracks, recover missed boxes, and improve temporal consistency.</a:t>
            </a:r>
            <a:endParaRPr lang="ru-RU" dirty="0"/>
          </a:p>
          <a:p>
            <a:pPr marL="114300" indent="0">
              <a:buNone/>
            </a:pPr>
            <a:endParaRPr lang="en-US" dirty="0"/>
          </a:p>
          <a:p>
            <a:pPr marL="114300" indent="0">
              <a:buNone/>
            </a:pPr>
            <a:r>
              <a:rPr lang="en-US" dirty="0"/>
              <a:t>Expected benefit:</a:t>
            </a:r>
          </a:p>
          <a:p>
            <a:pPr marL="114300" indent="0">
              <a:buNone/>
            </a:pPr>
            <a:r>
              <a:rPr lang="en-US" dirty="0"/>
              <a:t>better VRU recall and cleaner residual point clouds before noise segmentation.</a:t>
            </a:r>
            <a:endParaRPr lang="ru-RU" dirty="0"/>
          </a:p>
        </p:txBody>
      </p:sp>
    </p:spTree>
    <p:extLst>
      <p:ext uri="{BB962C8B-B14F-4D97-AF65-F5344CB8AC3E}">
        <p14:creationId xmlns:p14="http://schemas.microsoft.com/office/powerpoint/2010/main" val="18356591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8"/>
          <p:cNvSpPr txBox="1">
            <a:spLocks noGrp="1"/>
          </p:cNvSpPr>
          <p:nvPr>
            <p:ph type="title"/>
          </p:nvPr>
        </p:nvSpPr>
        <p:spPr>
          <a:xfrm>
            <a:off x="311700" y="327625"/>
            <a:ext cx="8520600" cy="572700"/>
          </a:xfrm>
          <a:prstGeom prst="rect">
            <a:avLst/>
          </a:prstGeom>
        </p:spPr>
        <p:txBody>
          <a:bodyPr spcFirstLastPara="1" wrap="square" lIns="91425" tIns="91425" rIns="91425" bIns="91425" anchor="t" anchorCtr="0">
            <a:normAutofit fontScale="90000"/>
          </a:bodyPr>
          <a:lstStyle/>
          <a:p>
            <a:pPr lvl="0"/>
            <a:r>
              <a:rPr lang="en-US" dirty="0"/>
              <a:t>Variable-Size Object Detection</a:t>
            </a:r>
            <a:endParaRPr dirty="0"/>
          </a:p>
        </p:txBody>
      </p:sp>
      <p:sp>
        <p:nvSpPr>
          <p:cNvPr id="87" name="Google Shape;87;p18"/>
          <p:cNvSpPr txBox="1">
            <a:spLocks noGrp="1"/>
          </p:cNvSpPr>
          <p:nvPr>
            <p:ph type="body" idx="1"/>
          </p:nvPr>
        </p:nvSpPr>
        <p:spPr>
          <a:xfrm>
            <a:off x="5516160" y="1129615"/>
            <a:ext cx="3079200" cy="3416400"/>
          </a:xfrm>
          <a:prstGeom prst="rect">
            <a:avLst/>
          </a:prstGeom>
        </p:spPr>
        <p:txBody>
          <a:bodyPr spcFirstLastPara="1" wrap="square" lIns="91425" tIns="91425" rIns="91425" bIns="91425" anchor="t" anchorCtr="0">
            <a:normAutofit/>
          </a:bodyPr>
          <a:lstStyle/>
          <a:p>
            <a:pPr marL="114300" lvl="0" indent="0" algn="l" rtl="0">
              <a:spcBef>
                <a:spcPts val="0"/>
              </a:spcBef>
              <a:spcAft>
                <a:spcPts val="0"/>
              </a:spcAft>
              <a:buSzPts val="1800"/>
              <a:buNone/>
            </a:pPr>
            <a:r>
              <a:rPr lang="en-US" dirty="0">
                <a:solidFill>
                  <a:srgbClr val="FF0000"/>
                </a:solidFill>
              </a:rPr>
              <a:t>TABEL</a:t>
            </a:r>
            <a:endParaRPr dirty="0">
              <a:solidFill>
                <a:srgbClr val="FF0000"/>
              </a:solidFill>
            </a:endParaRPr>
          </a:p>
        </p:txBody>
      </p:sp>
      <p:sp>
        <p:nvSpPr>
          <p:cNvPr id="2" name="TextBox 1">
            <a:extLst>
              <a:ext uri="{FF2B5EF4-FFF2-40B4-BE49-F238E27FC236}">
                <a16:creationId xmlns:a16="http://schemas.microsoft.com/office/drawing/2014/main" id="{6FDF091E-8609-86D8-B64D-B35834FC92F8}"/>
              </a:ext>
            </a:extLst>
          </p:cNvPr>
          <p:cNvSpPr txBox="1"/>
          <p:nvPr/>
        </p:nvSpPr>
        <p:spPr>
          <a:xfrm>
            <a:off x="548640" y="1283543"/>
            <a:ext cx="4549140" cy="3108543"/>
          </a:xfrm>
          <a:prstGeom prst="rect">
            <a:avLst/>
          </a:prstGeom>
          <a:noFill/>
        </p:spPr>
        <p:txBody>
          <a:bodyPr wrap="square" rtlCol="0">
            <a:spAutoFit/>
          </a:bodyPr>
          <a:lstStyle/>
          <a:p>
            <a:r>
              <a:rPr lang="en-US" dirty="0"/>
              <a:t>Goal: create a training dataset with minimal manual labeling.</a:t>
            </a:r>
          </a:p>
          <a:p>
            <a:endParaRPr lang="en-US" dirty="0"/>
          </a:p>
          <a:p>
            <a:r>
              <a:rPr lang="en-US" dirty="0"/>
              <a:t>During dataset generation, both camera and LiDAR are available.</a:t>
            </a:r>
          </a:p>
          <a:p>
            <a:r>
              <a:rPr lang="en-US" dirty="0"/>
              <a:t>The final inference model must use LiDAR only.</a:t>
            </a:r>
          </a:p>
          <a:p>
            <a:endParaRPr lang="en-US" dirty="0"/>
          </a:p>
          <a:p>
            <a:r>
              <a:rPr lang="en-US" dirty="0"/>
              <a:t>Proposed bootstrap labeling:</a:t>
            </a:r>
          </a:p>
          <a:p>
            <a:r>
              <a:rPr lang="en-US" dirty="0"/>
              <a:t>• use SAM3 / SAM4D-like models to segment objects in camera frames</a:t>
            </a:r>
          </a:p>
          <a:p>
            <a:r>
              <a:rPr lang="en-US" dirty="0"/>
              <a:t>• project masks into LiDAR using C-L calibration</a:t>
            </a:r>
          </a:p>
          <a:p>
            <a:r>
              <a:rPr lang="en-US" dirty="0"/>
              <a:t>• extract corresponding 3D point clusters</a:t>
            </a:r>
          </a:p>
          <a:p>
            <a:r>
              <a:rPr lang="en-US" dirty="0"/>
              <a:t>• fit variable-size 3D boxes</a:t>
            </a:r>
          </a:p>
          <a:p>
            <a:r>
              <a:rPr lang="en-US" dirty="0"/>
              <a:t>• manually correct only uncertain cases</a:t>
            </a:r>
            <a:endParaRPr lang="ru-RU"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A90B110-E6CC-C8DF-CEE5-99B56F8C680D}"/>
              </a:ext>
            </a:extLst>
          </p:cNvPr>
          <p:cNvSpPr>
            <a:spLocks noGrp="1"/>
          </p:cNvSpPr>
          <p:nvPr>
            <p:ph type="title"/>
          </p:nvPr>
        </p:nvSpPr>
        <p:spPr/>
        <p:txBody>
          <a:bodyPr>
            <a:normAutofit fontScale="90000"/>
          </a:bodyPr>
          <a:lstStyle/>
          <a:p>
            <a:endParaRPr lang="ru-RU" dirty="0"/>
          </a:p>
        </p:txBody>
      </p:sp>
      <p:sp>
        <p:nvSpPr>
          <p:cNvPr id="3" name="Текст 2">
            <a:extLst>
              <a:ext uri="{FF2B5EF4-FFF2-40B4-BE49-F238E27FC236}">
                <a16:creationId xmlns:a16="http://schemas.microsoft.com/office/drawing/2014/main" id="{10DBC22A-7866-764E-85DD-0D284A03771A}"/>
              </a:ext>
            </a:extLst>
          </p:cNvPr>
          <p:cNvSpPr>
            <a:spLocks noGrp="1"/>
          </p:cNvSpPr>
          <p:nvPr>
            <p:ph type="body" idx="1"/>
          </p:nvPr>
        </p:nvSpPr>
        <p:spPr/>
        <p:txBody>
          <a:bodyPr/>
          <a:lstStyle/>
          <a:p>
            <a:r>
              <a:rPr lang="en-US" dirty="0">
                <a:solidFill>
                  <a:srgbClr val="FF0000"/>
                </a:solidFill>
              </a:rPr>
              <a:t>Some FIGS from SAM4D and maybe SAM3</a:t>
            </a:r>
            <a:endParaRPr lang="ru-RU" dirty="0">
              <a:solidFill>
                <a:srgbClr val="FF0000"/>
              </a:solidFill>
            </a:endParaRPr>
          </a:p>
        </p:txBody>
      </p:sp>
    </p:spTree>
    <p:extLst>
      <p:ext uri="{BB962C8B-B14F-4D97-AF65-F5344CB8AC3E}">
        <p14:creationId xmlns:p14="http://schemas.microsoft.com/office/powerpoint/2010/main" val="35111121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lvl="0"/>
            <a:r>
              <a:rPr lang="en-US" dirty="0"/>
              <a:t>Camera-LiDAR Calibration for Label Transfer</a:t>
            </a:r>
            <a:endParaRPr dirty="0"/>
          </a:p>
        </p:txBody>
      </p:sp>
      <p:sp>
        <p:nvSpPr>
          <p:cNvPr id="93" name="Google Shape;93;p19"/>
          <p:cNvSpPr txBox="1">
            <a:spLocks noGrp="1"/>
          </p:cNvSpPr>
          <p:nvPr>
            <p:ph type="body" idx="1"/>
          </p:nvPr>
        </p:nvSpPr>
        <p:spPr>
          <a:xfrm>
            <a:off x="304080" y="1160095"/>
            <a:ext cx="8520600" cy="3416400"/>
          </a:xfrm>
          <a:prstGeom prst="rect">
            <a:avLst/>
          </a:prstGeom>
        </p:spPr>
        <p:txBody>
          <a:bodyPr spcFirstLastPara="1" wrap="square" lIns="91425" tIns="91425" rIns="91425" bIns="91425" anchor="t" anchorCtr="0">
            <a:normAutofit/>
          </a:bodyPr>
          <a:lstStyle/>
          <a:p>
            <a:pPr marL="0" lvl="0" indent="0">
              <a:buNone/>
            </a:pPr>
            <a:r>
              <a:rPr lang="en-US" dirty="0">
                <a:solidFill>
                  <a:schemeClr val="tx1"/>
                </a:solidFill>
              </a:rPr>
              <a:t>If calibration is inaccurate:</a:t>
            </a:r>
          </a:p>
          <a:p>
            <a:pPr marL="0" lvl="0" indent="0">
              <a:buNone/>
            </a:pPr>
            <a:r>
              <a:rPr lang="en-US" dirty="0">
                <a:solidFill>
                  <a:schemeClr val="tx1"/>
                </a:solidFill>
              </a:rPr>
              <a:t>• image masks are projected to wrong LiDAR points</a:t>
            </a:r>
          </a:p>
          <a:p>
            <a:pPr marL="0" lvl="0" indent="0">
              <a:buNone/>
            </a:pPr>
            <a:r>
              <a:rPr lang="en-US" dirty="0">
                <a:solidFill>
                  <a:schemeClr val="tx1"/>
                </a:solidFill>
              </a:rPr>
              <a:t>• object clusters become noisy</a:t>
            </a:r>
          </a:p>
          <a:p>
            <a:pPr marL="0" lvl="0" indent="0">
              <a:buNone/>
            </a:pPr>
            <a:r>
              <a:rPr lang="en-US" dirty="0">
                <a:solidFill>
                  <a:schemeClr val="tx1"/>
                </a:solidFill>
              </a:rPr>
              <a:t>• variable-size boxes become unreliable</a:t>
            </a:r>
          </a:p>
          <a:p>
            <a:pPr marL="0" lvl="0" indent="0">
              <a:buNone/>
            </a:pPr>
            <a:endParaRPr lang="en-US" dirty="0">
              <a:solidFill>
                <a:schemeClr val="tx1"/>
              </a:solidFill>
            </a:endParaRPr>
          </a:p>
          <a:p>
            <a:pPr marL="0" lvl="0" indent="0">
              <a:buNone/>
            </a:pPr>
            <a:r>
              <a:rPr lang="en-US" dirty="0">
                <a:solidFill>
                  <a:schemeClr val="tx1"/>
                </a:solidFill>
              </a:rPr>
              <a:t>Current calibration plan:</a:t>
            </a:r>
          </a:p>
          <a:p>
            <a:pPr marL="0" lvl="0" indent="0">
              <a:buNone/>
            </a:pPr>
            <a:r>
              <a:rPr lang="en-US" dirty="0">
                <a:solidFill>
                  <a:schemeClr val="tx1"/>
                </a:solidFill>
              </a:rPr>
              <a:t>• use targetless automatic calibration as a first step</a:t>
            </a:r>
          </a:p>
          <a:p>
            <a:pPr marL="0" lvl="0" indent="0">
              <a:buNone/>
            </a:pPr>
            <a:r>
              <a:rPr lang="en-US" dirty="0">
                <a:solidFill>
                  <a:schemeClr val="tx1"/>
                </a:solidFill>
              </a:rPr>
              <a:t>• inspect projection quality visually</a:t>
            </a:r>
          </a:p>
          <a:p>
            <a:pPr marL="0" lvl="0" indent="0">
              <a:buNone/>
            </a:pPr>
            <a:r>
              <a:rPr lang="en-US" dirty="0">
                <a:solidFill>
                  <a:schemeClr val="tx1"/>
                </a:solidFill>
              </a:rPr>
              <a:t>• check time synchronization</a:t>
            </a:r>
          </a:p>
          <a:p>
            <a:pPr marL="0" lvl="0" indent="0">
              <a:buNone/>
            </a:pPr>
            <a:r>
              <a:rPr lang="en-US" dirty="0">
                <a:solidFill>
                  <a:schemeClr val="tx1"/>
                </a:solidFill>
              </a:rPr>
              <a:t>• use manual or target-based refinement if needed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lvl="0"/>
            <a:r>
              <a:rPr lang="en-US" dirty="0"/>
              <a:t>Training a LiDAR-only Model from Generated Labels</a:t>
            </a:r>
            <a:endParaRPr dirty="0"/>
          </a:p>
        </p:txBody>
      </p:sp>
      <p:sp>
        <p:nvSpPr>
          <p:cNvPr id="99" name="Google Shape;99;p2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70000" lnSpcReduction="20000"/>
          </a:bodyPr>
          <a:lstStyle/>
          <a:p>
            <a:pPr marL="0" lvl="0" indent="0">
              <a:spcAft>
                <a:spcPts val="1200"/>
              </a:spcAft>
              <a:buNone/>
            </a:pPr>
            <a:r>
              <a:rPr lang="en-US" dirty="0">
                <a:solidFill>
                  <a:schemeClr val="tx1"/>
                </a:solidFill>
              </a:rPr>
              <a:t>Generated pseudo-labels will be used to train a LiDAR-only model.</a:t>
            </a:r>
            <a:br>
              <a:rPr lang="en-US" dirty="0">
                <a:solidFill>
                  <a:schemeClr val="tx1"/>
                </a:solidFill>
              </a:rPr>
            </a:br>
            <a:br>
              <a:rPr lang="en-US" dirty="0">
                <a:solidFill>
                  <a:schemeClr val="tx1"/>
                </a:solidFill>
              </a:rPr>
            </a:br>
            <a:r>
              <a:rPr lang="en-US" dirty="0">
                <a:solidFill>
                  <a:schemeClr val="tx1"/>
                </a:solidFill>
              </a:rPr>
              <a:t>Possible architecture:</a:t>
            </a:r>
            <a:br>
              <a:rPr lang="en-US" dirty="0">
                <a:solidFill>
                  <a:schemeClr val="tx1"/>
                </a:solidFill>
              </a:rPr>
            </a:br>
            <a:r>
              <a:rPr lang="en-US" dirty="0">
                <a:solidFill>
                  <a:schemeClr val="tx1"/>
                </a:solidFill>
              </a:rPr>
              <a:t>• point / voxel segmentation backbone</a:t>
            </a:r>
            <a:r>
              <a:rPr lang="ru-RU" dirty="0">
                <a:solidFill>
                  <a:schemeClr val="tx1"/>
                </a:solidFill>
              </a:rPr>
              <a:t> ( </a:t>
            </a:r>
            <a:r>
              <a:rPr lang="en-US" dirty="0">
                <a:solidFill>
                  <a:schemeClr val="tx1"/>
                </a:solidFill>
              </a:rPr>
              <a:t>like PTv3 or </a:t>
            </a:r>
            <a:r>
              <a:rPr lang="en-US" dirty="0" err="1">
                <a:solidFill>
                  <a:schemeClr val="tx1"/>
                </a:solidFill>
              </a:rPr>
              <a:t>LitePT</a:t>
            </a:r>
            <a:r>
              <a:rPr lang="en-US" dirty="0">
                <a:solidFill>
                  <a:schemeClr val="tx1"/>
                </a:solidFill>
              </a:rPr>
              <a:t>)</a:t>
            </a:r>
            <a:br>
              <a:rPr lang="en-US" dirty="0">
                <a:solidFill>
                  <a:schemeClr val="tx1"/>
                </a:solidFill>
              </a:rPr>
            </a:br>
            <a:r>
              <a:rPr lang="en-US" dirty="0">
                <a:solidFill>
                  <a:schemeClr val="tx1"/>
                </a:solidFill>
              </a:rPr>
              <a:t>• semantic head for variable-size object classes</a:t>
            </a:r>
            <a:br>
              <a:rPr lang="en-US" dirty="0">
                <a:solidFill>
                  <a:schemeClr val="tx1"/>
                </a:solidFill>
              </a:rPr>
            </a:br>
            <a:r>
              <a:rPr lang="en-US" dirty="0">
                <a:solidFill>
                  <a:schemeClr val="tx1"/>
                </a:solidFill>
              </a:rPr>
              <a:t>• instance clustering over predicted object points</a:t>
            </a:r>
            <a:br>
              <a:rPr lang="en-US" dirty="0">
                <a:solidFill>
                  <a:schemeClr val="tx1"/>
                </a:solidFill>
              </a:rPr>
            </a:br>
            <a:r>
              <a:rPr lang="en-US" dirty="0">
                <a:solidFill>
                  <a:schemeClr val="tx1"/>
                </a:solidFill>
              </a:rPr>
              <a:t>• simple adaptive 3D box fitting</a:t>
            </a:r>
            <a:endParaRPr lang="ru-RU" dirty="0">
              <a:solidFill>
                <a:schemeClr val="tx1"/>
              </a:solidFill>
            </a:endParaRPr>
          </a:p>
          <a:p>
            <a:pPr marL="0" lvl="0" indent="0">
              <a:spcAft>
                <a:spcPts val="1200"/>
              </a:spcAft>
              <a:buNone/>
            </a:pPr>
            <a:br>
              <a:rPr lang="en-US" dirty="0">
                <a:solidFill>
                  <a:schemeClr val="tx1"/>
                </a:solidFill>
              </a:rPr>
            </a:br>
            <a:r>
              <a:rPr lang="en-US" dirty="0">
                <a:solidFill>
                  <a:schemeClr val="tx1"/>
                </a:solidFill>
              </a:rPr>
              <a:t>Why segmentation-based detection?</a:t>
            </a:r>
            <a:br>
              <a:rPr lang="en-US" dirty="0">
                <a:solidFill>
                  <a:schemeClr val="tx1"/>
                </a:solidFill>
              </a:rPr>
            </a:br>
            <a:r>
              <a:rPr lang="en-US" dirty="0">
                <a:solidFill>
                  <a:schemeClr val="tx1"/>
                </a:solidFill>
              </a:rPr>
              <a:t>Variable-size objects are often small, thin, sparse, and geometrically diverse.</a:t>
            </a:r>
            <a:br>
              <a:rPr lang="en-US" dirty="0">
                <a:solidFill>
                  <a:schemeClr val="tx1"/>
                </a:solidFill>
              </a:rPr>
            </a:br>
            <a:br>
              <a:rPr lang="en-US" dirty="0">
                <a:solidFill>
                  <a:schemeClr val="tx1"/>
                </a:solidFill>
              </a:rPr>
            </a:br>
            <a:r>
              <a:rPr lang="en-US" dirty="0">
                <a:solidFill>
                  <a:schemeClr val="tx1"/>
                </a:solidFill>
              </a:rPr>
              <a:t>Output:</a:t>
            </a:r>
            <a:br>
              <a:rPr lang="en-US" dirty="0">
                <a:solidFill>
                  <a:schemeClr val="tx1"/>
                </a:solidFill>
              </a:rPr>
            </a:br>
            <a:r>
              <a:rPr lang="en-US" dirty="0">
                <a:solidFill>
                  <a:schemeClr val="tx1"/>
                </a:solidFill>
              </a:rPr>
              <a:t>• class label</a:t>
            </a:r>
            <a:br>
              <a:rPr lang="en-US" dirty="0">
                <a:solidFill>
                  <a:schemeClr val="tx1"/>
                </a:solidFill>
              </a:rPr>
            </a:br>
            <a:r>
              <a:rPr lang="en-US" dirty="0">
                <a:solidFill>
                  <a:schemeClr val="tx1"/>
                </a:solidFill>
              </a:rPr>
              <a:t>• variable-size 3D box</a:t>
            </a:r>
            <a:br>
              <a:rPr lang="en-US" dirty="0">
                <a:solidFill>
                  <a:schemeClr val="tx1"/>
                </a:solidFill>
              </a:rPr>
            </a:br>
            <a:r>
              <a:rPr lang="en-US" dirty="0">
                <a:solidFill>
                  <a:schemeClr val="tx1"/>
                </a:solidFill>
              </a:rPr>
              <a:t>• confidence score</a:t>
            </a:r>
            <a:endParaRPr dirty="0">
              <a:solidFill>
                <a:schemeClr val="tx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2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lvl="0"/>
            <a:r>
              <a:rPr lang="en-US" dirty="0"/>
              <a:t>Noise Segmentation: Residual Cloud Processing</a:t>
            </a:r>
            <a:endParaRPr dirty="0"/>
          </a:p>
        </p:txBody>
      </p:sp>
      <p:sp>
        <p:nvSpPr>
          <p:cNvPr id="105" name="Google Shape;105;p21"/>
          <p:cNvSpPr txBox="1">
            <a:spLocks noGrp="1"/>
          </p:cNvSpPr>
          <p:nvPr>
            <p:ph type="body" idx="1"/>
          </p:nvPr>
        </p:nvSpPr>
        <p:spPr>
          <a:xfrm>
            <a:off x="5836920" y="1121995"/>
            <a:ext cx="386406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ru" dirty="0">
                <a:solidFill>
                  <a:srgbClr val="FF0000"/>
                </a:solidFill>
              </a:rPr>
              <a:t>PUT A TABLE WITH CLASSES HERE </a:t>
            </a:r>
            <a:endParaRPr dirty="0">
              <a:solidFill>
                <a:srgbClr val="FF0000"/>
              </a:solidFill>
            </a:endParaRPr>
          </a:p>
        </p:txBody>
      </p:sp>
      <p:sp>
        <p:nvSpPr>
          <p:cNvPr id="2" name="TextBox 1">
            <a:extLst>
              <a:ext uri="{FF2B5EF4-FFF2-40B4-BE49-F238E27FC236}">
                <a16:creationId xmlns:a16="http://schemas.microsoft.com/office/drawing/2014/main" id="{7E9B0FFD-F468-0CE2-DC44-6017BF42AB3B}"/>
              </a:ext>
            </a:extLst>
          </p:cNvPr>
          <p:cNvSpPr txBox="1"/>
          <p:nvPr/>
        </p:nvSpPr>
        <p:spPr>
          <a:xfrm>
            <a:off x="311700" y="1017725"/>
            <a:ext cx="5959560" cy="3754874"/>
          </a:xfrm>
          <a:prstGeom prst="rect">
            <a:avLst/>
          </a:prstGeom>
          <a:noFill/>
        </p:spPr>
        <p:txBody>
          <a:bodyPr wrap="square" rtlCol="0">
            <a:spAutoFit/>
          </a:bodyPr>
          <a:lstStyle/>
          <a:p>
            <a:r>
              <a:rPr lang="en-US" dirty="0"/>
              <a:t>Input: residual point cloud after removing known physical objects.</a:t>
            </a:r>
          </a:p>
          <a:p>
            <a:endParaRPr lang="en-US" dirty="0"/>
          </a:p>
          <a:p>
            <a:r>
              <a:rPr lang="en-US" dirty="0"/>
              <a:t>Goal: detect LiDAR artifacts that do not correspond to real objects.</a:t>
            </a:r>
          </a:p>
          <a:p>
            <a:endParaRPr lang="en-US" dirty="0"/>
          </a:p>
          <a:p>
            <a:r>
              <a:rPr lang="en-US" dirty="0"/>
              <a:t>Proposed first step:</a:t>
            </a:r>
          </a:p>
          <a:p>
            <a:r>
              <a:rPr lang="en-US" dirty="0"/>
              <a:t>• remove fixed-size objects and variable-size objects</a:t>
            </a:r>
          </a:p>
          <a:p>
            <a:r>
              <a:rPr lang="en-US" dirty="0"/>
              <a:t>• keep unexplained residual points</a:t>
            </a:r>
          </a:p>
          <a:p>
            <a:r>
              <a:rPr lang="en-US" dirty="0"/>
              <a:t>• extract noise candidates using simple geometric and temporal cues</a:t>
            </a:r>
          </a:p>
          <a:p>
            <a:r>
              <a:rPr lang="en-US" dirty="0"/>
              <a:t>• segment candidates into coarse noise families</a:t>
            </a:r>
          </a:p>
          <a:p>
            <a:endParaRPr lang="en-US" dirty="0"/>
          </a:p>
          <a:p>
            <a:r>
              <a:rPr lang="en-US" dirty="0"/>
              <a:t>Noise families:</a:t>
            </a:r>
          </a:p>
          <a:p>
            <a:r>
              <a:rPr lang="en-US" dirty="0"/>
              <a:t>• crosstalk / interference</a:t>
            </a:r>
          </a:p>
          <a:p>
            <a:r>
              <a:rPr lang="en-US" dirty="0"/>
              <a:t>• reflection / range ambiguity</a:t>
            </a:r>
          </a:p>
          <a:p>
            <a:r>
              <a:rPr lang="en-US" dirty="0"/>
              <a:t>• dust / exhaust</a:t>
            </a:r>
          </a:p>
          <a:p>
            <a:r>
              <a:rPr lang="en-US" dirty="0"/>
              <a:t>• distance / layered artifacts</a:t>
            </a:r>
          </a:p>
          <a:p>
            <a:r>
              <a:rPr lang="en-US" dirty="0"/>
              <a:t>• adhesive / attached noise</a:t>
            </a:r>
          </a:p>
          <a:p>
            <a:r>
              <a:rPr lang="en-US" dirty="0"/>
              <a:t>• unknown artifact</a:t>
            </a:r>
            <a:endParaRPr lang="ru-RU"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85663B6-1B7E-74D1-F09D-2A23CBFC52F1}"/>
              </a:ext>
            </a:extLst>
          </p:cNvPr>
          <p:cNvSpPr>
            <a:spLocks noGrp="1"/>
          </p:cNvSpPr>
          <p:nvPr>
            <p:ph type="title"/>
          </p:nvPr>
        </p:nvSpPr>
        <p:spPr/>
        <p:txBody>
          <a:bodyPr>
            <a:normAutofit fontScale="90000"/>
          </a:bodyPr>
          <a:lstStyle/>
          <a:p>
            <a:r>
              <a:rPr lang="en-US" dirty="0"/>
              <a:t>From Noise Families to Final Noise Classes</a:t>
            </a:r>
            <a:endParaRPr lang="ru-RU" dirty="0"/>
          </a:p>
        </p:txBody>
      </p:sp>
      <p:sp>
        <p:nvSpPr>
          <p:cNvPr id="3" name="Текст 2">
            <a:extLst>
              <a:ext uri="{FF2B5EF4-FFF2-40B4-BE49-F238E27FC236}">
                <a16:creationId xmlns:a16="http://schemas.microsoft.com/office/drawing/2014/main" id="{7DE99176-3EFC-BD82-1B5D-270EAD381332}"/>
              </a:ext>
            </a:extLst>
          </p:cNvPr>
          <p:cNvSpPr>
            <a:spLocks noGrp="1"/>
          </p:cNvSpPr>
          <p:nvPr>
            <p:ph type="body" idx="1"/>
          </p:nvPr>
        </p:nvSpPr>
        <p:spPr/>
        <p:txBody>
          <a:bodyPr>
            <a:normAutofit fontScale="62500" lnSpcReduction="20000"/>
          </a:bodyPr>
          <a:lstStyle/>
          <a:p>
            <a:pPr marL="114300" indent="0">
              <a:buNone/>
            </a:pPr>
            <a:r>
              <a:rPr lang="en-US" dirty="0">
                <a:solidFill>
                  <a:schemeClr val="tx1"/>
                </a:solidFill>
              </a:rPr>
              <a:t>Direct 14-class noise segmentation may be challenging due to class similarity and limited labeled data.</a:t>
            </a:r>
            <a:br>
              <a:rPr lang="en-US" dirty="0">
                <a:solidFill>
                  <a:schemeClr val="tx1"/>
                </a:solidFill>
              </a:rPr>
            </a:br>
            <a:br>
              <a:rPr lang="en-US" dirty="0">
                <a:solidFill>
                  <a:schemeClr val="tx1"/>
                </a:solidFill>
              </a:rPr>
            </a:br>
            <a:r>
              <a:rPr lang="en-US" dirty="0">
                <a:solidFill>
                  <a:schemeClr val="tx1"/>
                </a:solidFill>
              </a:rPr>
              <a:t>Proposed hierarchy:</a:t>
            </a:r>
            <a:br>
              <a:rPr lang="en-US" dirty="0">
                <a:solidFill>
                  <a:schemeClr val="tx1"/>
                </a:solidFill>
              </a:rPr>
            </a:br>
            <a:r>
              <a:rPr lang="en-US" dirty="0">
                <a:solidFill>
                  <a:schemeClr val="tx1"/>
                </a:solidFill>
              </a:rPr>
              <a:t>1. Family-level point segmentation</a:t>
            </a:r>
            <a:br>
              <a:rPr lang="en-US" dirty="0">
                <a:solidFill>
                  <a:schemeClr val="tx1"/>
                </a:solidFill>
              </a:rPr>
            </a:br>
            <a:r>
              <a:rPr lang="en-US" dirty="0">
                <a:solidFill>
                  <a:schemeClr val="tx1"/>
                </a:solidFill>
              </a:rPr>
              <a:t>2. Cluster extraction inside each family</a:t>
            </a:r>
            <a:br>
              <a:rPr lang="en-US" dirty="0">
                <a:solidFill>
                  <a:schemeClr val="tx1"/>
                </a:solidFill>
              </a:rPr>
            </a:br>
            <a:r>
              <a:rPr lang="en-US" dirty="0">
                <a:solidFill>
                  <a:schemeClr val="tx1"/>
                </a:solidFill>
              </a:rPr>
              <a:t>3. Cluster-level classification into final noise classes</a:t>
            </a:r>
            <a:br>
              <a:rPr lang="en-US" dirty="0">
                <a:solidFill>
                  <a:schemeClr val="tx1"/>
                </a:solidFill>
              </a:rPr>
            </a:br>
            <a:br>
              <a:rPr lang="en-US" dirty="0">
                <a:solidFill>
                  <a:schemeClr val="tx1"/>
                </a:solidFill>
              </a:rPr>
            </a:br>
            <a:r>
              <a:rPr lang="en-US" dirty="0">
                <a:solidFill>
                  <a:schemeClr val="tx1"/>
                </a:solidFill>
              </a:rPr>
              <a:t>Model idea:</a:t>
            </a:r>
            <a:br>
              <a:rPr lang="en-US" dirty="0">
                <a:solidFill>
                  <a:schemeClr val="tx1"/>
                </a:solidFill>
              </a:rPr>
            </a:br>
            <a:r>
              <a:rPr lang="en-US" dirty="0">
                <a:solidFill>
                  <a:schemeClr val="tx1"/>
                </a:solidFill>
              </a:rPr>
              <a:t>• point / voxel segmentation backbone for coarse families</a:t>
            </a:r>
            <a:br>
              <a:rPr lang="en-US" dirty="0">
                <a:solidFill>
                  <a:schemeClr val="tx1"/>
                </a:solidFill>
              </a:rPr>
            </a:br>
            <a:r>
              <a:rPr lang="en-US" dirty="0">
                <a:solidFill>
                  <a:schemeClr val="tx1"/>
                </a:solidFill>
              </a:rPr>
              <a:t>• connected components or DBSCAN for clustering</a:t>
            </a:r>
            <a:br>
              <a:rPr lang="en-US" dirty="0">
                <a:solidFill>
                  <a:schemeClr val="tx1"/>
                </a:solidFill>
              </a:rPr>
            </a:br>
            <a:r>
              <a:rPr lang="en-US" dirty="0">
                <a:solidFill>
                  <a:schemeClr val="tx1"/>
                </a:solidFill>
              </a:rPr>
              <a:t>• cluster features for fine-grained classification</a:t>
            </a:r>
            <a:br>
              <a:rPr lang="en-US" dirty="0">
                <a:solidFill>
                  <a:schemeClr val="tx1"/>
                </a:solidFill>
              </a:rPr>
            </a:br>
            <a:br>
              <a:rPr lang="en-US" dirty="0">
                <a:solidFill>
                  <a:schemeClr val="tx1"/>
                </a:solidFill>
              </a:rPr>
            </a:br>
            <a:r>
              <a:rPr lang="en-US" dirty="0">
                <a:solidFill>
                  <a:schemeClr val="tx1"/>
                </a:solidFill>
              </a:rPr>
              <a:t>Cluster features:</a:t>
            </a:r>
            <a:br>
              <a:rPr lang="en-US" dirty="0">
                <a:solidFill>
                  <a:schemeClr val="tx1"/>
                </a:solidFill>
              </a:rPr>
            </a:br>
            <a:r>
              <a:rPr lang="en-US" dirty="0">
                <a:solidFill>
                  <a:schemeClr val="tx1"/>
                </a:solidFill>
              </a:rPr>
              <a:t>• shape and size</a:t>
            </a:r>
            <a:br>
              <a:rPr lang="en-US" dirty="0">
                <a:solidFill>
                  <a:schemeClr val="tx1"/>
                </a:solidFill>
              </a:rPr>
            </a:br>
            <a:r>
              <a:rPr lang="en-US" dirty="0">
                <a:solidFill>
                  <a:schemeClr val="tx1"/>
                </a:solidFill>
              </a:rPr>
              <a:t>• local density</a:t>
            </a:r>
            <a:br>
              <a:rPr lang="en-US" dirty="0">
                <a:solidFill>
                  <a:schemeClr val="tx1"/>
                </a:solidFill>
              </a:rPr>
            </a:br>
            <a:r>
              <a:rPr lang="en-US" dirty="0">
                <a:solidFill>
                  <a:schemeClr val="tx1"/>
                </a:solidFill>
              </a:rPr>
              <a:t>• intensity statistics</a:t>
            </a:r>
            <a:br>
              <a:rPr lang="en-US" dirty="0">
                <a:solidFill>
                  <a:schemeClr val="tx1"/>
                </a:solidFill>
              </a:rPr>
            </a:br>
            <a:r>
              <a:rPr lang="en-US" dirty="0">
                <a:solidFill>
                  <a:schemeClr val="tx1"/>
                </a:solidFill>
              </a:rPr>
              <a:t>• range and ring pattern</a:t>
            </a:r>
            <a:br>
              <a:rPr lang="en-US" dirty="0">
                <a:solidFill>
                  <a:schemeClr val="tx1"/>
                </a:solidFill>
              </a:rPr>
            </a:br>
            <a:r>
              <a:rPr lang="en-US" dirty="0">
                <a:solidFill>
                  <a:schemeClr val="tx1"/>
                </a:solidFill>
              </a:rPr>
              <a:t>• temporal stability</a:t>
            </a:r>
            <a:br>
              <a:rPr lang="en-US" dirty="0">
                <a:solidFill>
                  <a:schemeClr val="tx1"/>
                </a:solidFill>
              </a:rPr>
            </a:br>
            <a:r>
              <a:rPr lang="en-US" dirty="0">
                <a:solidFill>
                  <a:schemeClr val="tx1"/>
                </a:solidFill>
              </a:rPr>
              <a:t>• distance to objects / ground</a:t>
            </a:r>
            <a:endParaRPr lang="ru-RU" dirty="0">
              <a:solidFill>
                <a:schemeClr val="tx1"/>
              </a:solidFill>
            </a:endParaRPr>
          </a:p>
        </p:txBody>
      </p:sp>
    </p:spTree>
    <p:extLst>
      <p:ext uri="{BB962C8B-B14F-4D97-AF65-F5344CB8AC3E}">
        <p14:creationId xmlns:p14="http://schemas.microsoft.com/office/powerpoint/2010/main" val="646354864"/>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196</TotalTime>
  <Words>2137</Words>
  <Application>Microsoft Office PowerPoint</Application>
  <PresentationFormat>Экран (16:9)</PresentationFormat>
  <Paragraphs>158</Paragraphs>
  <Slides>16</Slides>
  <Notes>14</Notes>
  <HiddenSlides>0</HiddenSlides>
  <MMClips>0</MMClips>
  <ScaleCrop>false</ScaleCrop>
  <HeadingPairs>
    <vt:vector size="6" baseType="variant">
      <vt:variant>
        <vt:lpstr>Использованные шрифты</vt:lpstr>
      </vt:variant>
      <vt:variant>
        <vt:i4>1</vt:i4>
      </vt:variant>
      <vt:variant>
        <vt:lpstr>Тема</vt:lpstr>
      </vt:variant>
      <vt:variant>
        <vt:i4>1</vt:i4>
      </vt:variant>
      <vt:variant>
        <vt:lpstr>Заголовки слайдов</vt:lpstr>
      </vt:variant>
      <vt:variant>
        <vt:i4>16</vt:i4>
      </vt:variant>
    </vt:vector>
  </HeadingPairs>
  <TitlesOfParts>
    <vt:vector size="18" baseType="lpstr">
      <vt:lpstr>Arial</vt:lpstr>
      <vt:lpstr>Simple Light</vt:lpstr>
      <vt:lpstr>Презентация PowerPoint</vt:lpstr>
      <vt:lpstr>Draft of architecture </vt:lpstr>
      <vt:lpstr>VRU Detection with Fixed-Size Boxes</vt:lpstr>
      <vt:lpstr>Results on our data</vt:lpstr>
      <vt:lpstr>Results on our data</vt:lpstr>
      <vt:lpstr>Planned Improvement: Offline LiDAR 3D Detection</vt:lpstr>
      <vt:lpstr>CTRL-like Offline Detector: Once Detected, Never Lost</vt:lpstr>
      <vt:lpstr>Planned Improvement: Variable Temporal Aggregation</vt:lpstr>
      <vt:lpstr>VADet: Object-Level Adaptive Aggregation</vt:lpstr>
      <vt:lpstr>Proposed Integration: VADet-style Aggregation before CTRL-like Refinement</vt:lpstr>
      <vt:lpstr>Variable-Size Object Detection</vt:lpstr>
      <vt:lpstr>Презентация PowerPoint</vt:lpstr>
      <vt:lpstr>Camera-LiDAR Calibration for Label Transfer</vt:lpstr>
      <vt:lpstr>Training a LiDAR-only Model from Generated Labels</vt:lpstr>
      <vt:lpstr>Noise Segmentation: Residual Cloud Processing</vt:lpstr>
      <vt:lpstr>From Noise Families to Final Noise Classes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Максим Артемьев</cp:lastModifiedBy>
  <cp:revision>20</cp:revision>
  <dcterms:modified xsi:type="dcterms:W3CDTF">2026-05-14T23:22:20Z</dcterms:modified>
</cp:coreProperties>
</file>